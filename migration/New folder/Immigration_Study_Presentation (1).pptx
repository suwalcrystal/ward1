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1F2937"/>
                </a:solidFill>
                <a:latin typeface="Arial"/>
              </a:defRPr>
            </a:pPr>
            <a:r>
              <a:t>Internal Migration in Nepal:</a:t>
            </a:r>
            <a:br/>
            <a:r>
              <a:t>Causes and Consequences</a:t>
            </a:r>
          </a:p>
          <a:p>
            <a:pPr>
              <a:spcAft>
                <a:spcPts val="4000"/>
              </a:spcAft>
              <a:defRPr sz="2000">
                <a:solidFill>
                  <a:srgbClr val="0284C7"/>
                </a:solidFill>
                <a:latin typeface="Arial"/>
              </a:defRPr>
            </a:pPr>
            <a:r>
              <a:t>A Case Study of Shankharapur Municipality Ward 9 (Sankhu), Kathmandu</a:t>
            </a:r>
          </a:p>
          <a:p>
            <a:pPr>
              <a:defRPr sz="1300">
                <a:solidFill>
                  <a:srgbClr val="4B5563"/>
                </a:solidFill>
                <a:latin typeface="Arial"/>
              </a:defRPr>
            </a:pPr>
            <a:r>
              <a:t>Research Scope: Introduction, Objectives, Limitations, Methodology, Data Analysis, and Conclusion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Introduction: Background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Demographic Driver: Migration is a critical component of population dynamic shift, significantly influencing social structure, regional demographics, and local economies alongside fertility and mortality.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Classical Economic Balance: Aligns with classical economic models where population flows from asset-poor or infrastructure-limited areas towards resource-dense urban regions.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Context of Nepal: Characterized by distinct historical movements from Mountain/Hill regions toward lowlands (Terai) and central urban hubs like the Kathmandu Valley due to modern infrastructure centralization.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The Peri-Urban Reality: Shankharapur Ward 9 (Sankhu) operates as a critical destination corridor facing continuous influx, rendering it a localized microcosm for evaluating contemporary migration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Statement of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Settlement and Infrastructure Stress: Inflows gradually intensify infrastructure burdens at destination zones while depleting human resources at places of origin.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The Knowledge Gap: While micro/macro research covers major city-wide trends, there is a distinct lack of granular, ward-level analyses that integrate demographic profile data, structural push-pull drivers, and local regulatory contexts simultaneously.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Post-Disaster Realities: The area experienced structural shifts following the massive 2015 earthquakes, accelerating local land plotting and housing developments.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Core Academic Inquiries: This study specifically targets: What are the absolute primary drivers prompting household relocation? What are the true socio-economic, structural, and service delivery consequences at the peri-urban destination?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Objectives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General Objective</a:t>
            </a:r>
          </a:p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To comprehensively assess the overall status, underlying causes, and socio-economic consequences of in-migration within Ward No. 9 of Shankharapur Municipality, Kathmandu.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Specific Objectives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1. To examine and identify the distinct push and pull factors driving immigration into the study area.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2. To systematically assess the existing nature, composition, and socio-demographic characteristics of the migrant population.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3. To explore and document the specific social, economic, and infrastructure-related consequences at the destination.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3.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Limitations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Geographic Boundary: Strictly confined to Shankharapur Municipality, Ward No. 9 (Sankhu), which restricts direct generalization to macro urban centers.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Sample &amp; Focus: Concentrates primarily on established residential in-migrant households; temporary, short-term, or highly mobile seasonal laborers may not be fully represented.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Data Dependencies: Relies primarily on self-reported survey responses from household heads, which can be subject to individual recollection bias regarding pre-migration income and social status.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Institutional Constraints: Primary field data gathering faced tighter timeframes and limited baseline data availability at local level administrative institutions (ward offices).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4.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Research Methodology: Design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Integrated Research Design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Exploratory Element: Used to uncover hidden push-pull determinants, localized household decision-making mechanisms, and unexpected challenges at the destination.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Descriptive Element: Applied to systematically measure, categorize, and cross-tabulate demographic metrics (literacy, land holding size, age dependency ratios).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Nature and Sources of Data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Primary Data: Collected directly through standardized household structured questionnaires, localized field observations, and informal focus discussions.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Secondary Data: Extracted from National Statistics Office (NSO 2021 Census), National Planning Commission (NPC) frameworks, and Centre for Economic Development and Administration (CEDA) archives.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4.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Methodology: Complete Census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Census Approach Details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Total Census Approach: Because the universe was highly localized and tightly bounded, a total census approach was adopted rather than fractional sampling.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Universe Size: Included 89 unique in-migrant households containing an aggregate population of 345 individual migrants.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Temporal Horizon: Spans households migrating between the years 2074 BS to 2083 BS.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Analytical Software: Raw field inputs were systematically coded and processed using SPSS and MS Excel for descriptive tabulations.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46304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 of Migration (BS)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Sampled Households (N)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Total Universe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Socio-Economic Profile: Literacy Gender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Key Social Indicator Analysis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High Overall Literacy: The aggregate literacy rate among migrants aged 5 years and above stands at 80.9% (271 individuals), well above national baselines.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Pronounced Gender Gap: Male literacy reaches a high of 93.71%, whereas female literacy is substantially lower at 66.88%.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Disproportional Illiteracy: The female illiteracy rate (33.13%) is more than five times the male equivalent (6.29%).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Structural Constraints: This suggests older-generation female migrants face heightened barriers in securing formal employment and accessing information at destination points.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201168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  <a:gridCol w="10058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Male (N)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Male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Female(N)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Female%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Literate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93.71%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66.88%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Illiterate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33.13%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Total (335)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Socio-Economic Profile: Ethnicity &amp; Religion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Ethnic Composition (N=89 HH)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Chhetri: Form the leading group with 35.96% (32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Brahmin: The second largest with 31.46% (28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Brahmin &amp; Chhetri Combined: Comprise more than two-thirds (67.42%) of the entire migrant stream.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Janajati: Comprise 25.84% (23 HH) of households.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Dalit: Significantly lower representation at 6.74% (6 HH).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Religious Affiliation Parameters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Hindu Dominance: Represents 67.42% (60 HH), reflecting the principal domestic religious base.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Buddhist Over-representation: Stands at 25.84% (23 HH) in the ward, which is substantially higher than the national census average of 8.21%.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Christian: Stands at 6.74% (6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Muslim: 0.00% recorded across the entire ward census.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Significance: Confirms an active spatial-cultural variation specific to the destination ward compared to macro national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Regulatory Context: Land &amp; Water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Administrative Precondition Rule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The Property Rule: Shankharapur Municipality introduced an official directive (2076/2078 BS) requiring incoming households to hold land registered in their own name as a mandatory precondition to secure a migration certificate.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Zero Landlessness: Consequently, 100% of registered migrant households own land; no household falls into a landless category.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Modest Land Holdings: The vast majority (69.66%) own small parcels measured in Aana, 17.98% hold larger lots in Ropani, and 12.36% fall under other/mixed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Main Source of Drinking Water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Piped Supply: Over half (53.93%, 48 HH) utilize formal piped connections distributed from local natural water source points (*muhan*).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Boring Infrastructure: A large portion (39.33%, 35 HH) deploy private tube-well boring extraction.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Boring Motivation: Driven by intense secondary demand for water for housing construction and urban irrigation, rather than complete absence of piped links.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Well Water: Restricted to 6.74% (6 HH).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Demographic Profile: Age and Sex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Population Structure Insights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Gender Distribution: The 345 individual migrants comprise 181 males (52.5%) and 164 females (47.5%), yielding an approximate sex ratio of 110 males per 100 females.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Working Age Concentration: Economically active age cohorts between 20 to 49 years constitute close to half of the total population.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Peak Cohort: The 30–34 age group forms the single largest segment at 10.43%, followed closely by 20–24 and 40–44 (each at 9.57%).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Labor-Driven Movement: Strongly highlights that the migration stream is dominated by prime working-age cohorts seeking economic advancement.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Age Group Segmentation Summary</a:t>
            </a:r>
          </a:p>
          <a:p>
            <a:pPr>
              <a:spcAft>
                <a:spcPts val="1200"/>
              </a:spcAft>
              <a:defRPr sz="1400">
                <a:solidFill>
                  <a:srgbClr val="4B5563"/>
                </a:solidFill>
                <a:latin typeface="Arial"/>
              </a:defRPr>
            </a:pPr>
            <a:r>
              <a:t>Children (0–14 years): 2.90% (0-4), 3.19% (5-9), 7.25% (10-14). Total child segment shows moderate size.</a:t>
            </a:r>
          </a:p>
          <a:p>
            <a:pPr>
              <a:spcAft>
                <a:spcPts val="1200"/>
              </a:spcAft>
              <a:defRPr sz="1400">
                <a:solidFill>
                  <a:srgbClr val="4B5563"/>
                </a:solidFill>
                <a:latin typeface="Arial"/>
              </a:defRPr>
            </a:pPr>
            <a:r>
              <a:t>Core Working Cohorts (20–44 years): 9.57% (20-24), 8.70% (25-29), 10.43% (30-34), 8.41% (35-39), 9.57% (40-44). Total exceeds 46.6%.</a:t>
            </a:r>
          </a:p>
          <a:p>
            <a:pPr>
              <a:spcAft>
                <a:spcPts val="1200"/>
              </a:spcAft>
              <a:defRPr sz="1400">
                <a:solidFill>
                  <a:srgbClr val="4B5563"/>
                </a:solidFill>
                <a:latin typeface="Arial"/>
              </a:defRPr>
            </a:pPr>
            <a:r>
              <a:t>Elderly Dependent (65+ years): Strictly limited to 6.67%, indicating a relatively modest old-age dependency burden during initial settlement phases.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Demographic Profile: Family &amp; Marriage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Marital Status (Aged 10+; N=324)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Married Dominance: Represents 62.04% (201 individuals) of the eligible population.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Unmarried Proportion: Stands at 37.96% (123 individuals).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Gender Breakdown: The proportion of married individuals is notably higher among females (65.38%) than males (58.93%).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Household Relocation: Underscores that migration into Sankhu involves coordinated family units rather than single unattached individuals.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Family Size &amp; Structure Trends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Predominance of Small Families: 77.53% (69 HH) maintain a family size below 5 members.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Moderate Families (5–6 members): Covers 16.85% (15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Large Families (Above 6 members): Just 5.62% (5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Average Family Size: Calculated at 3.88 persons per household.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Macro Alignment: Replicating Bagmati Province's low average (3.89) and reflecting a strong shift toward nuclear family networks.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Demographic Profile: Age Dependency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Economic Dependency Burden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Low Total Dependency: The overall age dependency ratio stands at 25.00 — meaning every 100 working-age individuals (15–64) support exactly 25 dependents.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Child vs. Elderly Split: Heavily skewed towards child dependency (16.67) relative to old-age dependency (8.33).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Gender Differences: The dependency burden is higher for males (27.46) than females (22.39), driven entirely by child metrics (19.01 male vs. 14.18 female).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Motive Confirmation: This low dependency structure provides strong evidence that migration is primarily driven by working-age individuals seeking livelihood optimization.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22860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Dependency Type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Ratio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Child Dependency (0-14)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16.67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Old Age Dependency (65+)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Total Dependency Ratio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27.46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22.39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25.00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Causes of Migration: Structural Push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Underdevelopment Drivers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Infrastructure Scarcity: Identified as the single leading push factor, cited by 34.83% (31 HH) of respondents.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Economic Drivers: Limited job opportunities (26.97%, 24 HH) and limited market access (20.22%, 18 HH) follow as major factors.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82% Combined Total: Infrastructure, employment, and market access combined explain 82.02% of all departures, proving migration is overwhelmingly structural rather than political/social.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Minor Factors: Land scarcity/fragmentation (7.87%), government job transfers (5.62%), and conflict history (4.49%) played marginal roles.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82880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3716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Reason for Leaving Origin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Households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Limited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34.83%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Limited job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26.97%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Limited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Limited arable 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7.87%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Government job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5.62%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Victim of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4.49%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Causes: Geographic Origins &amp; Social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Geographic Scale of Movement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Inter-District Dominance: An overwhelming majority (73.03%, 65 HH) migrated from a completely different district, proving long-distance movement dominates.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Intra-District Movement: 21.35% (19 HH) arrived from another palika within Kathmandu district.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Hyper-Local Flows: Only 5.62% (5 HH) originated from within Shankharapur municipality itself.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Implication: Migrants are highly willing to navigate extensive administrative distances to access physical infrastructure in Sankhu.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Decision-Making &amp; Network Theory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Near Relatives: Cited by 28.09% (25 HH) as the primary influencer for relocation decisions.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Immediate Family: Spouse/children accounted for 23.60% (21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Kinship Network Share: Combined, decisions mediated within family/kin networks total 51.69%, highlighting the family-centric nature of migration.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Individual Agency: Only 16.85% decided purely individually (*Himself/Herself*).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Social Anchors: Friends (16.85%) and employers/neighbors (14.61%) provide secondary information channels.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Consequences: Destination Realities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Satisfaction with Residence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High Satisfaction Rate: An overwhelming 88.8% (79 HH) express clear satisfaction with their new residence.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Expectation Fulfillment: Indicates that relocating successfully resolved the core infrastructure constraints that originally drove households away.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Dissatisfaction: Limited to 9.0% (8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Neutral Outlook: 2.2% (2 HH) feel their current situation is unchanged relative to their place of origin.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Continuing Challenges Faced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Inadequate Development Funding: Identified as the primary problem at destination by 39.33% (35 HH).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Insufficient Health Facilities: Cited by 19.10% (17 HH), pointing to secondary service strain.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Bad Social Environment: Reported by 17.98% (16 HH), indicating adjustment challenges.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Employment &amp; Water: Lack of jobs (15.73%) and drinking water deficiencies (7.87%) represent lower-tier concerns.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Conclusion: Key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Structural Primacy: Internal migration into Shankharapur Ward 9 is fundamentally driven by structural deficiencies — limited physical infrastructure (34.83%) and jobs (26.97%) at places of origin — rather than social friction.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Kinship &amp; Network Anchors: Over 51% of decisions are anchored in family and near-relative networks, leading to distinct spatial clustering and reducing relocation risks for incoming inter-district migrants (73.03%).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Regulatory Influence: The municipality's property ownership rule effectively eliminates landlessness among registered migrants, but heavily drives real estate land plotting in aana parcels across the peri-urban landscape.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Destination Strains: While achieving a high satisfaction rate (88.8%), the rapid population influx places heavy structural strain on local systems, primarily manifesting as inadequate municipal development funding (39.33%) and health sector strain.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rial"/>
              </a:defRPr>
            </a:pPr>
            <a:r>
              <a:t>Actionable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1. Integrated Infrastructure Planning: Local authorities must proactively scale municipal development funding and target basic physical services to keep pace with the documented daily influx.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2. Land Use Policy Alignment: Address the rapid fragmentation of agricultural fields into residential aana plots by leveraging digital base maps and technical zoning enforcement tools under the Land Use Act (2019).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3. Target Female Empowerment Programs: Design dedicated educational and skill-building initiatives for female migrants to narrow the stark gender literacy gap (93.7% male vs 66.9% female) and enhance employment access.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4. Expand Healthcare Infrastructure: Upgrade local primary health facilities and water distribution networks to alleviate the specific service strains identified by nearly 20% of incoming households.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0284C7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1F2937"/>
                </a:solidFill>
                <a:latin typeface="Arial"/>
              </a:defRPr>
            </a:pPr>
            <a:r>
              <a:t>Questions &amp; Academic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