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Male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Literate</c:v>
                </c:pt>
                <c:pt idx="1">
                  <c:v>Illiterate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93.71</c:v>
                </c:pt>
                <c:pt idx="1">
                  <c:v>6.29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Literate</c:v>
                </c:pt>
                <c:pt idx="1">
                  <c:v>Illiterate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66.88</c:v>
                </c:pt>
                <c:pt idx="1">
                  <c:v>33.13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Chhetri</c:v>
                </c:pt>
                <c:pt idx="1">
                  <c:v>Brahmin</c:v>
                </c:pt>
                <c:pt idx="2">
                  <c:v>Janajati</c:v>
                </c:pt>
                <c:pt idx="3">
                  <c:v>Dalit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35.96</c:v>
                </c:pt>
                <c:pt idx="1">
                  <c:v>31.46</c:v>
                </c:pt>
                <c:pt idx="2">
                  <c:v>25.84</c:v>
                </c:pt>
                <c:pt idx="3">
                  <c:v>6.74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Hindu</c:v>
                </c:pt>
                <c:pt idx="1">
                  <c:v>Buddhist</c:v>
                </c:pt>
                <c:pt idx="2">
                  <c:v>Christian</c:v>
                </c:pt>
                <c:pt idx="3">
                  <c:v>Muslim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67.42</c:v>
                </c:pt>
                <c:pt idx="1">
                  <c:v>25.84</c:v>
                </c:pt>
                <c:pt idx="2">
                  <c:v>6.74</c:v>
                </c:pt>
                <c:pt idx="3">
                  <c:v>0.0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Households 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Limited Infrastructure</c:v>
                </c:pt>
                <c:pt idx="1">
                  <c:v>Limited Job Opportunity</c:v>
                </c:pt>
                <c:pt idx="2">
                  <c:v>Limited Market</c:v>
                </c:pt>
                <c:pt idx="3">
                  <c:v>Limited Arable Land</c:v>
                </c:pt>
                <c:pt idx="4">
                  <c:v>Government Job</c:v>
                </c:pt>
                <c:pt idx="5">
                  <c:v>Victim of Conflict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34.83</c:v>
                </c:pt>
                <c:pt idx="1">
                  <c:v>26.97</c:v>
                </c:pt>
                <c:pt idx="2">
                  <c:v>20.22</c:v>
                </c:pt>
                <c:pt idx="3">
                  <c:v>7.87</c:v>
                </c:pt>
                <c:pt idx="4">
                  <c:v>5.62</c:v>
                </c:pt>
                <c:pt idx="5">
                  <c:v>4.49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Origin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Other District</c:v>
                </c:pt>
                <c:pt idx="1">
                  <c:v>Other Palika</c:v>
                </c:pt>
                <c:pt idx="2">
                  <c:v>Same Palika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73.03</c:v>
                </c:pt>
                <c:pt idx="1">
                  <c:v>21.35</c:v>
                </c:pt>
                <c:pt idx="2">
                  <c:v>5.62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Problems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Inadequate Funding</c:v>
                </c:pt>
                <c:pt idx="1">
                  <c:v>Insufficient Health</c:v>
                </c:pt>
                <c:pt idx="2">
                  <c:v>Bad Social Env.</c:v>
                </c:pt>
                <c:pt idx="3">
                  <c:v>Lack of Jobs</c:v>
                </c:pt>
                <c:pt idx="4">
                  <c:v>Water Supply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39.33</c:v>
                </c:pt>
                <c:pt idx="1">
                  <c:v>19.1</c:v>
                </c:pt>
                <c:pt idx="2">
                  <c:v>17.98</c:v>
                </c:pt>
                <c:pt idx="3">
                  <c:v>15.73</c:v>
                </c:pt>
                <c:pt idx="4">
                  <c:v>7.87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0E7490"/>
                </a:solidFill>
                <a:latin typeface="Arial"/>
              </a:rPr>
              <a:t>DATA ANALYSIS &amp; INTERPRETATION</a:t>
            </a:r>
          </a:p>
          <a:p>
            <a:r>
              <a:rPr sz="2800" b="1" i="0">
                <a:solidFill>
                  <a:srgbClr val="0F172A"/>
                </a:solidFill>
                <a:latin typeface="Arial"/>
              </a:rPr>
              <a:t>Literacy Profile Exhibiting Explicit Gender Gaps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64592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29400" y="1645920"/>
            <a:ext cx="4873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Empirical Insights &amp; Interpretation: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Arial"/>
              </a:rPr>
              <a:t>• High Baseline: Combined aggregate literacy across Ward 9 stands at 80.90% (271 literate out of 335 total population aged 5+).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Arial"/>
              </a:rPr>
              <a:t>• Severe Asymmetry: Male literacy reaches 93.71%, whereas female literacy drops significantly to 66.88%.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Arial"/>
              </a:rPr>
              <a:t>• Factor of Multiplicity: The female illiteracy rate (33.13%) is more than 5 times greater than the male rate (6.29%).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Arial"/>
              </a:rPr>
              <a:t>• Socio-Structural Context: Reflects deep historical imbalances where older generations of women faced highly constrained access to formal institutional schooling in rural source regions.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0E7490"/>
                </a:solidFill>
                <a:latin typeface="Arial"/>
              </a:rPr>
              <a:t>DATA ANALYSIS &amp; INTERPRETATION</a:t>
            </a:r>
          </a:p>
          <a:p>
            <a:r>
              <a:rPr sz="2800" b="1" i="0">
                <a:solidFill>
                  <a:srgbClr val="0F172A"/>
                </a:solidFill>
                <a:latin typeface="Arial"/>
              </a:rPr>
              <a:t>Socio-Cultural Profiles: Ethnic &amp; Religious Matrix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645920"/>
          <a:ext cx="3474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434840" y="164592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035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rial"/>
              </a:rPr>
              <a:t>Ethnic Distribution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53035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rial"/>
              </a:rPr>
              <a:t>Religious Distribution 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73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Key Takeaways: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• Upper-Caste Dominance: Chhetri (35.96%) and Brahmin (31.46%) compose over two-thirds (67.42%) of households.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• Marginal Dalit Stream: Dalit households represent only 6.74%, highlighting uneven migration access.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• Over-Represented Buddhist Cohort: Buddhist households account for 25.84%, significantly higher than the 8.21% national average, showing distinct regionalized network clusters.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0E7490"/>
                </a:solidFill>
                <a:latin typeface="Arial"/>
              </a:rPr>
              <a:t>DATA ANALYSIS &amp; INTERPRETATION</a:t>
            </a:r>
          </a:p>
          <a:p>
            <a:r>
              <a:rPr sz="2800" b="1" i="0">
                <a:solidFill>
                  <a:srgbClr val="0F172A"/>
                </a:solidFill>
                <a:latin typeface="Arial"/>
              </a:rPr>
              <a:t>Structural Drivers Fueling Out-Migration Flow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645920"/>
          <a:ext cx="59436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494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Push Factor Analysis: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Arial"/>
              </a:rPr>
              <a:t>• Structural Deficits Lead: Inadequate physical/economic infrastructure is the top driver at 34.83%.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Arial"/>
              </a:rPr>
              <a:t>• Economic Triggers: Limited job opportunities (26.97%) and market access constraints (20.22%) follow closely.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Arial"/>
              </a:rPr>
              <a:t>• Aggregate Push: Together, infrastructure and market/job factors dictate 82.02% of all spatial moves.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Arial"/>
              </a:rPr>
              <a:t>• Institutional &amp; Force Factors: Government transfers (5.62%) and conflict displacement (4.49%) remain marginal.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0E7490"/>
                </a:solidFill>
                <a:latin typeface="Arial"/>
              </a:rPr>
              <a:t>DATA ANALYSIS &amp; INTERPRETATION</a:t>
            </a:r>
          </a:p>
          <a:p>
            <a:r>
              <a:rPr sz="2800" b="1" i="0">
                <a:solidFill>
                  <a:srgbClr val="0F172A"/>
                </a:solidFill>
                <a:latin typeface="Arial"/>
              </a:rPr>
              <a:t>Geographic Scale and Post-Settlement Challenges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828800"/>
          <a:ext cx="3200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rial"/>
              </a:rPr>
              <a:t>Geographic Origin of Migrants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343400" y="1828800"/>
          <a:ext cx="384048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43400" y="5303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rial"/>
              </a:rPr>
              <a:t>Primary Constraints at Destination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Synthesis: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• Macro Mobility: 73.03% are long-distance, inter-district migrants, willing to bypass local options for Kathmandu's periphery.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• Funding Strains: 39.33% declare inadequate local development funding as their main issue, outpacing raw utility gaps.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• Urban Fringe Dilemma: Rapid population growth strains local infrastructure capacity before formal institutional budgets expand.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