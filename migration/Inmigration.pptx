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F3100-E310-4E80-9CFD-84884B312F6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09A9D-E86D-4E63-BCC7-B412590BE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709A9D-E86D-4E63-BCC7-B412590BE6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0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2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4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8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7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5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3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3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83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828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58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62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4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2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6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36B1D5-9E1A-48C0-967B-69F993E2477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22ECC61-DD68-485B-8F41-430F32753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618517"/>
            <a:ext cx="10576559" cy="1596177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Status of Immigration: A Case Study of </a:t>
            </a:r>
            <a:r>
              <a:rPr lang="en-US" sz="3200" b="1" dirty="0" err="1"/>
              <a:t>Shankharapur</a:t>
            </a:r>
            <a:r>
              <a:rPr lang="en-US" sz="3200" b="1" dirty="0"/>
              <a:t> Municipality Ward 9, </a:t>
            </a:r>
            <a:r>
              <a:rPr lang="en-US" sz="3200" b="1" dirty="0" err="1"/>
              <a:t>Sankhu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 smtClean="0"/>
              <a:t>	</a:t>
            </a:r>
            <a:r>
              <a:rPr lang="en-US" sz="2800" b="1" dirty="0" smtClean="0"/>
              <a:t>Thesis Proposal presentation- December 2025</a:t>
            </a:r>
          </a:p>
          <a:p>
            <a:pPr marL="0" indent="0">
              <a:buNone/>
            </a:pPr>
            <a:endParaRPr lang="en-US" sz="2800" b="1" dirty="0" smtClean="0"/>
          </a:p>
          <a:p>
            <a:pPr marL="0" indent="0" algn="r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Kristal </a:t>
            </a:r>
            <a:r>
              <a:rPr lang="en-US" sz="2400" b="1" dirty="0" err="1" smtClean="0"/>
              <a:t>Suwal</a:t>
            </a:r>
            <a:endParaRPr lang="en-US" sz="2400" b="1" dirty="0" smtClean="0"/>
          </a:p>
          <a:p>
            <a:pPr marL="0" indent="0" algn="r">
              <a:buNone/>
            </a:pPr>
            <a:r>
              <a:rPr lang="en-US" sz="2400" b="1" dirty="0" smtClean="0"/>
              <a:t>	M.A. Rural </a:t>
            </a:r>
            <a:r>
              <a:rPr lang="en-US" sz="2400" b="1" dirty="0" smtClean="0"/>
              <a:t>Development </a:t>
            </a:r>
            <a:endParaRPr lang="en-US" sz="2400" b="1" dirty="0" smtClean="0"/>
          </a:p>
          <a:p>
            <a:pPr marL="0" indent="0" algn="r">
              <a:buNone/>
            </a:pPr>
            <a:r>
              <a:rPr lang="en-US" sz="2400" b="1" dirty="0"/>
              <a:t>	</a:t>
            </a:r>
            <a:r>
              <a:rPr lang="en-US" sz="2400" b="1" dirty="0" err="1" smtClean="0"/>
              <a:t>Bhaktapur</a:t>
            </a:r>
            <a:r>
              <a:rPr lang="en-US" sz="2400" b="1" dirty="0" smtClean="0"/>
              <a:t> Multiple </a:t>
            </a:r>
            <a:r>
              <a:rPr lang="en-US" sz="2400" b="1" dirty="0" smtClean="0"/>
              <a:t>Campus</a:t>
            </a:r>
            <a:endParaRPr lang="en-US" sz="2400" b="1" dirty="0" smtClean="0"/>
          </a:p>
          <a:p>
            <a:pPr marL="0" indent="0" algn="r">
              <a:buNone/>
            </a:pPr>
            <a:r>
              <a:rPr lang="en-US" sz="2400" b="1" dirty="0"/>
              <a:t>	</a:t>
            </a:r>
            <a:r>
              <a:rPr lang="en-US" sz="2400" b="1" dirty="0" err="1" smtClean="0"/>
              <a:t>Tribhuvan</a:t>
            </a:r>
            <a:r>
              <a:rPr lang="en-US" sz="2400" b="1" dirty="0" smtClean="0"/>
              <a:t> University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8447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Introduction - Background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839317"/>
            <a:ext cx="107480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Migration: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major component of population change driven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socio-economic factors, affecting the size, structure, and social characteristics of both origin and destination points.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Migration: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Movement within a country (rural-to-rural, rural-to-urban, etc.).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Movement across national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borders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Nepal’s Context: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Historical shifts from hills to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Terai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began after malaria eradication; currently,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infrastructural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and social services drive rapid movement to urban centers like Kathmandu</a:t>
            </a:r>
          </a:p>
        </p:txBody>
      </p:sp>
    </p:spTree>
    <p:extLst>
      <p:ext uri="{BB962C8B-B14F-4D97-AF65-F5344CB8AC3E}">
        <p14:creationId xmlns:p14="http://schemas.microsoft.com/office/powerpoint/2010/main" val="107487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 smtClean="0"/>
              <a:t>Statement </a:t>
            </a:r>
            <a:r>
              <a:rPr lang="en-US" b="1" dirty="0"/>
              <a:t>of the Problem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721971" y="1469986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Pressure: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Shankharapur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Municipality Ward 9 is a developing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Kathmandu experiencing a continuous flow of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in-migration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Unknown Consequences: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causes of migration are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identifiable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specific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qualitative consequences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(positive or negative) on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destination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require sensible research.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Questions: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What factors keep people migrating?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What are the specific "pull factors" for Ward 9?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What are the trends, causes, and consequences of this movement?</a:t>
            </a:r>
          </a:p>
        </p:txBody>
      </p:sp>
    </p:spTree>
    <p:extLst>
      <p:ext uri="{BB962C8B-B14F-4D97-AF65-F5344CB8AC3E}">
        <p14:creationId xmlns:p14="http://schemas.microsoft.com/office/powerpoint/2010/main" val="116106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Objectives of the Study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762314"/>
            <a:ext cx="107480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Objective: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assess the status, trends, causes, and consequences of immigration in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Shankharapur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Municipality Ward 9.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Objectives: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To identify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causes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immigration.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To analyze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 migration trends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630238" lvl="0" indent="-630238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3.To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socio-economic consequences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immigration in the 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22656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Rationale of the Study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682349"/>
            <a:ext cx="107480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Significance: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Contributes to existing literature by examining demographic trends and underlying drivers of immigration in a local context.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Significance: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practical insights for planners and policymakers to design targeted interventions and improve living conditions.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Development: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new perspectives to enhance public participation and accelerate urban development in the ward.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Value: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Serves as a foundation and reference for future researchers in the field of migration and rural development</a:t>
            </a:r>
          </a:p>
        </p:txBody>
      </p:sp>
    </p:spTree>
    <p:extLst>
      <p:ext uri="{BB962C8B-B14F-4D97-AF65-F5344CB8AC3E}">
        <p14:creationId xmlns:p14="http://schemas.microsoft.com/office/powerpoint/2010/main" val="213108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 smtClean="0"/>
              <a:t>Conceptual Framework</a:t>
            </a:r>
            <a:endParaRPr lang="en-US" dirty="0"/>
          </a:p>
        </p:txBody>
      </p:sp>
      <p:pic>
        <p:nvPicPr>
          <p:cNvPr id="6" name="Content Placeholder 5" descr="Migration study conceptualisation flowchart"/>
          <p:cNvPicPr>
            <a:picLocks noGrp="1" noChangeAspect="1"/>
          </p:cNvPicPr>
          <p:nvPr isPhoto="1">
            <p:ph sz="quarter" idx="13"/>
          </p:nvPr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071722"/>
            <a:ext cx="7782560" cy="51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7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 smtClean="0"/>
              <a:t>Literature Review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8480" y="2001658"/>
            <a:ext cx="1098296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"Laws of Migration"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Ravenstein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(1885) </a:t>
            </a:r>
            <a:r>
              <a:rPr lang="en-US" altLang="en-US" sz="2400" b="1" cap="none" dirty="0" smtClean="0"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 occurs in systematic streams and is heavily influenced by distance.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Push-Pull Theory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Everett Lee (1966)</a:t>
            </a:r>
            <a:r>
              <a:rPr lang="en-US" altLang="en-US" sz="2400" b="1" cap="none" dirty="0" smtClean="0"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 is a balance between "push" factors and "pull" factors.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Gravity Model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Zipf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(1946) and Stewart (1950)</a:t>
            </a:r>
            <a:r>
              <a:rPr lang="en-US" altLang="en-US" sz="2400" b="1" cap="none" dirty="0">
                <a:latin typeface="Arial" panose="020B0604020202020204" pitchFamily="34" charset="0"/>
              </a:rPr>
              <a:t> </a:t>
            </a:r>
            <a:r>
              <a:rPr lang="en-US" altLang="en-US" sz="2400" b="1" cap="none" dirty="0" smtClean="0"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migration volume is proportional to population size and inversely related to the distance travelled.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Perspective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Todaro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(1976)</a:t>
            </a:r>
            <a:r>
              <a:rPr lang="en-US" altLang="en-US" sz="2400" b="1" cap="none" dirty="0">
                <a:latin typeface="Arial" panose="020B0604020202020204" pitchFamily="34" charset="0"/>
              </a:rPr>
              <a:t> </a:t>
            </a:r>
            <a:r>
              <a:rPr lang="en-US" altLang="en-US" sz="2400" b="1" cap="none" dirty="0" smtClean="0"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migration is driven by "expected income" differences rather than just actual current earnings.</a:t>
            </a:r>
          </a:p>
        </p:txBody>
      </p:sp>
    </p:spTree>
    <p:extLst>
      <p:ext uri="{BB962C8B-B14F-4D97-AF65-F5344CB8AC3E}">
        <p14:creationId xmlns:p14="http://schemas.microsoft.com/office/powerpoint/2010/main" val="368849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Literature Review – Empirical &amp; Policy Context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7360" y="2367092"/>
            <a:ext cx="10810866" cy="4196268"/>
          </a:xfrm>
        </p:spPr>
        <p:txBody>
          <a:bodyPr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cap="none" dirty="0" smtClean="0">
                <a:latin typeface="Arial" panose="020B0604020202020204" pitchFamily="34" charset="0"/>
              </a:rPr>
              <a:t>National context (</a:t>
            </a:r>
            <a:r>
              <a:rPr lang="en-US" altLang="en-US" sz="2400" b="1" cap="none" dirty="0">
                <a:latin typeface="Arial" panose="020B0604020202020204" pitchFamily="34" charset="0"/>
              </a:rPr>
              <a:t>N</a:t>
            </a:r>
            <a:r>
              <a:rPr lang="en-US" altLang="en-US" sz="2400" b="1" cap="none" dirty="0" smtClean="0">
                <a:latin typeface="Arial" panose="020B0604020202020204" pitchFamily="34" charset="0"/>
              </a:rPr>
              <a:t>epal):</a:t>
            </a:r>
            <a:r>
              <a:rPr lang="en-US" altLang="en-US" sz="2400" cap="none" dirty="0" smtClean="0">
                <a:latin typeface="Arial" panose="020B0604020202020204" pitchFamily="34" charset="0"/>
              </a:rPr>
              <a:t> research by CEDA (1977) and </a:t>
            </a:r>
            <a:r>
              <a:rPr lang="en-US" altLang="en-US" sz="2400" cap="none" dirty="0" err="1">
                <a:latin typeface="Arial" panose="020B0604020202020204" pitchFamily="34" charset="0"/>
              </a:rPr>
              <a:t>G</a:t>
            </a:r>
            <a:r>
              <a:rPr lang="en-US" altLang="en-US" sz="2400" cap="none" dirty="0" err="1" smtClean="0">
                <a:latin typeface="Arial" panose="020B0604020202020204" pitchFamily="34" charset="0"/>
              </a:rPr>
              <a:t>urung</a:t>
            </a:r>
            <a:r>
              <a:rPr lang="en-US" altLang="en-US" sz="2400" cap="none" dirty="0" smtClean="0">
                <a:latin typeface="Arial" panose="020B0604020202020204" pitchFamily="34" charset="0"/>
              </a:rPr>
              <a:t> (1984) identified that over 50% of </a:t>
            </a:r>
            <a:r>
              <a:rPr lang="en-US" altLang="en-US" sz="2400" cap="none" dirty="0" err="1" smtClean="0">
                <a:latin typeface="Arial" panose="020B0604020202020204" pitchFamily="34" charset="0"/>
              </a:rPr>
              <a:t>kathmandu's</a:t>
            </a:r>
            <a:r>
              <a:rPr lang="en-US" altLang="en-US" sz="2400" cap="none" dirty="0" smtClean="0">
                <a:latin typeface="Arial" panose="020B0604020202020204" pitchFamily="34" charset="0"/>
              </a:rPr>
              <a:t> migrants are aged 20–30, driven by land scarcity and food shortages in the hills.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cap="none" dirty="0" smtClean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cap="none" dirty="0" smtClean="0">
                <a:latin typeface="Arial" panose="020B0604020202020204" pitchFamily="34" charset="0"/>
              </a:rPr>
              <a:t> </a:t>
            </a:r>
            <a:r>
              <a:rPr lang="en-US" altLang="en-US" sz="2400" b="1" cap="none" dirty="0" smtClean="0">
                <a:latin typeface="Arial" panose="020B0604020202020204" pitchFamily="34" charset="0"/>
              </a:rPr>
              <a:t>Local observations:</a:t>
            </a:r>
            <a:r>
              <a:rPr lang="en-US" altLang="en-US" sz="2400" cap="none" dirty="0" smtClean="0">
                <a:latin typeface="Arial" panose="020B0604020202020204" pitchFamily="34" charset="0"/>
              </a:rPr>
              <a:t> (</a:t>
            </a:r>
            <a:r>
              <a:rPr lang="en-US" altLang="en-US" sz="2400" cap="none" dirty="0" err="1">
                <a:latin typeface="Arial" panose="020B0604020202020204" pitchFamily="34" charset="0"/>
              </a:rPr>
              <a:t>K</a:t>
            </a:r>
            <a:r>
              <a:rPr lang="en-US" altLang="en-US" sz="2400" cap="none" dirty="0" err="1" smtClean="0">
                <a:latin typeface="Arial" panose="020B0604020202020204" pitchFamily="34" charset="0"/>
              </a:rPr>
              <a:t>unwar</a:t>
            </a:r>
            <a:r>
              <a:rPr lang="en-US" altLang="en-US" sz="2400" cap="none" dirty="0" smtClean="0">
                <a:latin typeface="Arial" panose="020B0604020202020204" pitchFamily="34" charset="0"/>
              </a:rPr>
              <a:t>, 2015; </a:t>
            </a:r>
            <a:r>
              <a:rPr lang="en-US" altLang="en-US" sz="2400" cap="none" dirty="0" err="1">
                <a:latin typeface="Arial" panose="020B0604020202020204" pitchFamily="34" charset="0"/>
              </a:rPr>
              <a:t>N</a:t>
            </a:r>
            <a:r>
              <a:rPr lang="en-US" altLang="en-US" sz="2400" cap="none" dirty="0" err="1" smtClean="0">
                <a:latin typeface="Arial" panose="020B0604020202020204" pitchFamily="34" charset="0"/>
              </a:rPr>
              <a:t>iroula</a:t>
            </a:r>
            <a:r>
              <a:rPr lang="en-US" altLang="en-US" sz="2400" cap="none" dirty="0" smtClean="0">
                <a:latin typeface="Arial" panose="020B0604020202020204" pitchFamily="34" charset="0"/>
              </a:rPr>
              <a:t>, 2016) show that Maoist insurgency and infrastructure development accelerated rural-to-urban movement.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cap="none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3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Research Design &amp; Methodology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313018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Design: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Employs both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 and exploratory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designs to investigate the "how" and "why" of in-migration.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 of Data: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field observations and interviews.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Secondary:</a:t>
            </a:r>
            <a:r>
              <a:rPr lang="en-US" altLang="en-US" sz="2400" cap="none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Sourced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libraries, published articles, CBS records, and 		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municipal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Area &amp; Population: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Shankharapur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Municipality Ward 9, which contains 87 households selected for the study.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Sampling Technique: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sampling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to select the ward, while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purposive method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will be used to draw samples from the population</a:t>
            </a:r>
          </a:p>
        </p:txBody>
      </p:sp>
    </p:spTree>
    <p:extLst>
      <p:ext uri="{BB962C8B-B14F-4D97-AF65-F5344CB8AC3E}">
        <p14:creationId xmlns:p14="http://schemas.microsoft.com/office/powerpoint/2010/main" val="136070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Data Collection &amp; Analysis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313019"/>
            <a:ext cx="107480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for Collection: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assess social status, community participation, and the relationship between migrants and residents.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◦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Unstructured Interviews: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Divided into sections covering demographics, reasons for moving, socio-economic variables, and consequences.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qualitative and quantitative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will be used; qualitative findings will be presented in tabular forms.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Considerations: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Obtaining formal approval from the ward office, securing verbal consent from participants, and maintaining strict confidentiality</a:t>
            </a:r>
          </a:p>
        </p:txBody>
      </p:sp>
    </p:spTree>
    <p:extLst>
      <p:ext uri="{BB962C8B-B14F-4D97-AF65-F5344CB8AC3E}">
        <p14:creationId xmlns:p14="http://schemas.microsoft.com/office/powerpoint/2010/main" val="796266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Limitations of the Study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2051682"/>
            <a:ext cx="107480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Focus: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study is confined to Ward 9, which may restrict the generalization of findings to other regions.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&amp; Time: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Constraints on time and financial resources limited the sample size and the ability to cover temporary or seasonal migrants extensively.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Reliability: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depend on the honesty of respondents, who may be reluctant to share sensitive socio-economic information</a:t>
            </a:r>
          </a:p>
        </p:txBody>
      </p:sp>
    </p:spTree>
    <p:extLst>
      <p:ext uri="{BB962C8B-B14F-4D97-AF65-F5344CB8AC3E}">
        <p14:creationId xmlns:p14="http://schemas.microsoft.com/office/powerpoint/2010/main" val="86121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4860"/>
          </a:xfrm>
        </p:spPr>
        <p:txBody>
          <a:bodyPr/>
          <a:lstStyle/>
          <a:p>
            <a:r>
              <a:rPr lang="en-US" b="1" dirty="0"/>
              <a:t>Conclusion &amp; Expected Outcomes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8200" y="1354236"/>
            <a:ext cx="10748058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for Planning: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study intends to bridge the gap between macro-level migration theories and local-level realities in Ward 9.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Integrative Approach: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combining demographic, socio-economic, and policy perspectives, the research will provide a comprehensive view of how immigration shapes rural-urban transition.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Goal: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evidence-based recommendations that support sustainable integration and infrastructure planning at the ward level</a:t>
            </a:r>
          </a:p>
        </p:txBody>
      </p:sp>
    </p:spTree>
    <p:extLst>
      <p:ext uri="{BB962C8B-B14F-4D97-AF65-F5344CB8AC3E}">
        <p14:creationId xmlns:p14="http://schemas.microsoft.com/office/powerpoint/2010/main" val="42173680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130</TotalTime>
  <Words>723</Words>
  <Application>Microsoft Office PowerPoint</Application>
  <PresentationFormat>Widescreen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Tw Cen MT</vt:lpstr>
      <vt:lpstr>Wingdings</vt:lpstr>
      <vt:lpstr>Droplet</vt:lpstr>
      <vt:lpstr>Status of Immigration: A Case Study of Shankharapur Municipality Ward 9, Sankhu</vt:lpstr>
      <vt:lpstr>Introduction - Background</vt:lpstr>
      <vt:lpstr>Statement of the Problem</vt:lpstr>
      <vt:lpstr>Objectives of the Study</vt:lpstr>
      <vt:lpstr>Rationale of the Study</vt:lpstr>
      <vt:lpstr>Conceptual Framework</vt:lpstr>
      <vt:lpstr>Literature Review</vt:lpstr>
      <vt:lpstr>Literature Review – Empirical &amp; Policy Context</vt:lpstr>
      <vt:lpstr>Research Design &amp; Methodology</vt:lpstr>
      <vt:lpstr>Data Collection &amp; Analysis</vt:lpstr>
      <vt:lpstr>Limitations of the Study</vt:lpstr>
      <vt:lpstr>Conclusion &amp; 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Immigration: A Case Study of Shankharapur Municipality Ward 9, Sankhu</dc:title>
  <dc:creator>DELL</dc:creator>
  <cp:lastModifiedBy>DELL</cp:lastModifiedBy>
  <cp:revision>31</cp:revision>
  <dcterms:created xsi:type="dcterms:W3CDTF">2025-12-20T14:56:50Z</dcterms:created>
  <dcterms:modified xsi:type="dcterms:W3CDTF">2025-12-22T01:29:25Z</dcterms:modified>
</cp:coreProperties>
</file>