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Causes and Consequences of Immigration</a:t>
            </a:r>
          </a:p>
          <a:p>
            <a:pPr algn="l">
              <a:defRPr sz="2400">
                <a:solidFill>
                  <a:srgbClr val="E6F0FA"/>
                </a:solidFill>
              </a:defRPr>
            </a:pPr>
            <a:r>
              <a:t>A Case Study of Shankharapur Municipality Ward 9 (Sankhu), Kathmandu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1.1 Background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</a:defRPr>
            </a:pPr>
            <a:r>
              <a:t>• Migration is a key driver of population change alongside fertility and mortality.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</a:defRPr>
            </a:pPr>
            <a:r>
              <a:t>• Driven primarily by socio-economic disparities between place of origin and destination.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</a:defRPr>
            </a:pPr>
            <a:r>
              <a:t>• Acts as a demographic barometer reflecting national/international socio-political circumstances.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</a:defRPr>
            </a:pPr>
            <a:r>
              <a:t>• Historical shifts in Nepal: Major flows historically from hills/mountains to Terai, and increasingly to urban/peri-urban centers within the Kathmandu Valley.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</a:defRPr>
            </a:pPr>
            <a:r>
              <a:t>• Recent triggers: The 2015 earthquakes destroyed over 600,000 houses, intensifying population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1.2 Statement of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Rapid urbanization creates settlement pressure at both origin and destination points.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Shankharapur Ward 9 (Sankhu) faces a continuous flow of daily immigration as a developing peri-urban hub.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Causes of migration are easily identifiable, but evaluating the quality of consequences requires localized research.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Key Research Questions: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What primary factors drive migration into the study area?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What are the social, economic, and governance consequences for the destination area?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1.3 Objectives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42850"/>
                </a:solidFill>
              </a:defRPr>
            </a:pPr>
            <a:r>
              <a:t>General Objective:</a:t>
            </a:r>
          </a:p>
          <a:p>
            <a:pPr>
              <a:spcAft>
                <a:spcPts val="2400"/>
              </a:spcAft>
              <a:defRPr sz="2200">
                <a:solidFill>
                  <a:srgbClr val="3C3C3C"/>
                </a:solidFill>
              </a:defRPr>
            </a:pPr>
            <a:r>
              <a:t>To assess the status, causes, and consequences of immigration in Shankharapur Municipality Ward 9, Kathmandu.</a:t>
            </a:r>
          </a:p>
          <a:p>
            <a:pPr>
              <a:spcAft>
                <a:spcPts val="1000"/>
              </a:spcAft>
              <a:defRPr sz="2400" b="1">
                <a:solidFill>
                  <a:srgbClr val="142850"/>
                </a:solidFill>
              </a:defRPr>
            </a:pPr>
            <a:r>
              <a:t>Specific Objectives: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1. To analyze the push and pull causes of immigration in the study area.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2. To assess the existing demographic and socio-economic composition of migrant people.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3. To explore the positive and negative consequences of immigration on the destination.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1.4 Significance &amp; Rationale of Study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Theoretical Value: Fills the research gap by transitioning from macro-level analyses to context-specific, ward-level dynamics.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Applied Value: Provides functional data for municipal planners to manage public service pressure and design targeted interventions.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Rationale for choosing Ward 9 (Sankhu):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Experiences continuous daily peri-urban influx following the 2015 earthquake.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Small universe (89 households) allows a census approach for precise depth.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Serves as a perfect 'laboratory' to understand localized real estate plotting and infrastructure strains.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CHAPTER TWO: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Classical Theories: Ravenstein's Laws (Streams/Counter-streams), Lee's Push-Pull Framework, Zipf's Gravity Model, and Todaro's Expected Income Differential Model.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Contemporary Perspectives: New Economics of Migration (household income diversification), Segmented Labour-Market Theory, and Network Theory (kinship/caste ties).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Empirical Context (Nepal): CEDA (1977) noted youth dominance (20-30 years) in Kathmandu. Gurung (1984) and Kunwar (2015) detailed agrarian push vs. infrastructure pull.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Research Gap: Most literature focuses on macro-level inter-district flows, missing ward-level post-earthquake realities, land category transformations, and local planning implications.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2.5 Conceptual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Independent Variables (Causes/Determinants):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Economic (unemployment, low income), Educational, Environmental (disasters), Social, Political, and Infrastructure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Mediating Process: Internal Migration Outcome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Dependent Variables (Consequences/Outcomes):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  - Economic (income growth), Social (integration/clashes), Demographic structure changes, Health access, Environmental impact (land conversion), and Political/Governance strain.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CHAPTER THREE: 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Research Design: Integrated exploratory (understanding motives) and descriptive (measuring demographic/economic shifts) design.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Nature and Sources: Primary data via field survey (2026). Secondary data from NSO (2021 Census), NPC, CEDA, and Shankharapur municipal records.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Universe &amp; Sampling: Complete Census Approach of all 89 in-migrant households (relocated between 2074 - 2083 BS) containing 345 individual migrants.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Tools &amp; Processing: Structured/unstructured questionnaires, field observations, and informal discussions. Analyzed using SPSS and MS Excel.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</a:defRPr>
            </a:pPr>
            <a:r>
              <a:t>• Presentation: Structured tables, percentage distributions, bar diagrams, and pie charts.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3.3 Distribution of Sampled Households by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Total Sampled Households: 89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Peak Migration Year: 2082 BS (16 households), followed closely by 2079 BS (14 households).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Lowest Volume: 2077 BS (2 households) — likely due to pandemic/mobility constraints.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• Indicates a highly fluctuating yet sustained upward trend in peri-urban settlement over the decade.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Year (BS)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Number of Households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4.1.1 Socio-Economic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Literacy Status (Aged 5+): Total literacy is 80.90% (271 persons). Significant gender gap exists: Males 93.71% literate vs. Females 66.88% literate. Female illiteracy is over 5x higher than males.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Ethnic Composition: Chhetri households dominate with 35.96%, followed by Brahmin (31.46%), Janajati (25.84%), and Dalit (6.74%). Brahmin/Chhetri account for over two-thirds (67.42%) of migrants.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Religious Composition: Large majority are Hindu (67.42%), followed by Buddhist (25.84%) and Christian (6.74%). No Muslim households recorded. Buddhists are over-represented relative to national averages (25.84% vs 8.21% national).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4.1.1 Land Holding &amp; Water Source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Land Ownership Requirement: A municipal rule introduced in 2076/2078 BS requires land ownership within the palika as a precondition to receive an official migration certificate.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Land Size Distribution: 100% of recorded migrant households own land (0% landless due to registration policy). 69.66% own modest plots measured in Aana, 17.98% own larger plots in Ropani, and 12.36% hold mixed/other categories.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Main Drinking Water Sources: 53.93% rely on Piped water, 39.33% utilize Boring (tube-wells), and 6.74% use Open Wells.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Water Availability: Water is generally adequate; boring is primarily opted for to fulfill additional high-volume demands like house construction and crop irrigation.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4.1.2 Demographic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Population &amp; Sex Ratio: Total population of 345 persons across 89 households. 181 Males (52.5%) and 164 Females (47.5%), establishing a sex ratio of 110 males per 100 females.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Age Structure: Concentrated heavily in active working-age brackets. The 30-34 age group is largest (10.43%), followed by 20-24 and 40-44 (9.57% each). Active workforce (20-49 years) forms close to half the total population.</a:t>
            </a:r>
          </a:p>
          <a:p>
            <a:pPr>
              <a:spcAft>
                <a:spcPts val="1400"/>
              </a:spcAft>
              <a:defRPr sz="1900">
                <a:solidFill>
                  <a:srgbClr val="3C3C3C"/>
                </a:solidFill>
              </a:defRPr>
            </a:pPr>
            <a:r>
              <a:t>• Marital Status (Aged 10+): 62.04% are married, 37.96% are unmarried. Proportional marriage is higher among women (65.38%) than men (58.93%). Reflected as nuclear/family-mediated migration rather than unattached individuals moving alone.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4.1.2 Family Size &amp; Dependency Burden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Family Size Distribution: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Below 5 members: 77.53% (69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- 5 to 6 members: 16.85% (15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Above 6 members: 5.62% (5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Average Family Size: 3.88 persons per household. Aligns closely with Bagmati Province's average (3.89) and confirms the dominance of compact, nuclear family migration structures.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Age Dependency Ratio: The overall ratio is 25.0 (25 dependents per 100 working-age individuals).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Child Dependency Ratio: 16.67 (Higher for males at 19.01 vs females at 14.18)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Old Age Dependency Ratio: 8.33 (Nearly identical: Males 8.45 vs Females 8.21)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Low dependency burden reinforces that movement is driven by labor and economic opportunities.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4.2.1 Causes &amp; Geographic Scale of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Primary Push Factors (Reasons for leaving place of origin):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Limited infrastructure: 34.83% (31 households) — Single largest cause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Limited job opportunities: 26.97% (24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Limited market access: 20.22% (18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Minor factors: Limited arable land (7.87%), Government job transfers (5.62%), Conflict victims (4.49%)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Geographic Scale (Place of Origin):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Long-distance inter-district migration is dominant: 73.03% (65 households) moved from another district.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Intra-district movement (other palika of Kathmandu): 21.35% (19 households).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Same palika localized moves: 5.62% (5 households).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4.2.1 Decision Making &amp; Post-Migration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Responsible Person for Decision Making: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Near Relatives: 28.09% (25 households) — Highlights strong kinship networks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Spouse / Children: 23.60% (21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Self-decided: 16.85% (15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Friends: 16.85% (15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Employers / Neighbors: 14.61% (13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Family/Kinship network accounts for over half (51.7%) of all relocation choices.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Satisfaction with Destination: An overwhelming 88.8% (79 households) report being fully satisfied with their move. 9.0% are unsatisfied, and 2.2% see no change. Confirms that relocation successfully resolved origin infrastructure constraints.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4.2.2.2 Problems Facing at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Although overall satisfaction is high, municipal infrastructure struggles to keep pace with rapid inflows.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Principal Problems Reported by Migrant Households: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Inadequate development funding: 39.33% (35 households) — Primary systemic hurdle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Insufficient health facilities: 19.10% (17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Bad social environment / integration issues: 17.98% (16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Lack of employment opportunities locally: 15.73% (14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  - Inadequate drinking water distribution: 7.87% (7 households)</a:t>
            </a:r>
          </a:p>
          <a:p>
            <a:pPr>
              <a:spcAft>
                <a:spcPts val="1000"/>
              </a:spcAft>
              <a:defRPr sz="1900">
                <a:solidFill>
                  <a:srgbClr val="3C3C3C"/>
                </a:solidFill>
              </a:defRPr>
            </a:pPr>
            <a:r>
              <a:t>• Indicates that local public utilities and development budgets face intense structural strain.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CHAPTER FIVE: Summary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• Summary of Findings: Internal migration into Shankharapur Ward 9 is heavily inter-district (73%) and driven by physical/economic infrastructure deficits at the place of origin.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• Demographic Structure: Dominated by young, literate, married, working-age individuals moving in compact nuclear family units (average size 3.88). A significant female literacy lag remains an equity issue.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• Core Conclusion: While migration delivers immediate socio-economic benefits and high household satisfaction (88.8%), it catalyzes rapid agricultural land conversion into residential plots.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• Policy Mismatch: National laws mandate agricultural preservation, but local bodies lack the technical maps, tools, and budgets to control informal plotting and service strains.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850"/>
                </a:solidFill>
              </a:defRPr>
            </a:pPr>
            <a:r>
              <a:t>5.3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1. Infrastructure &amp; Funding Scaling: Prioritize municipal development budgets to upgrade public utilities, roads, and drinking water systems in high-inflow peripheral areas.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2. Health Service Expansion: Establish targeted healthcare access points or sub-health centers in Ward 9 to handle the increased population burden.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3. Stringent Zoning Enforcement: Equip local authorities with digital base maps and technical enforcement tools to bridge the gap between the Land Use Act and informal plotting.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4. Targeted Female Literacy Programs: Design focused adult education and economic literacy programs for incoming female migrants to close the wide gender gap.</a:t>
            </a:r>
          </a:p>
          <a:p>
            <a:pPr>
              <a:spcAft>
                <a:spcPts val="1200"/>
              </a:spcAft>
              <a:defRPr sz="1900">
                <a:solidFill>
                  <a:srgbClr val="3C3C3C"/>
                </a:solidFill>
              </a:defRPr>
            </a:pPr>
            <a:r>
              <a:t>5. Community Integration Initiatives: Foster active local neighborhood groups to improve the social environment and support seamless cultural/social integration of diverse regional migrants.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E6F0FA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