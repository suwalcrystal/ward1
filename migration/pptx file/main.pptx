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slideLayouts/slideLayout10.xml" ContentType="application/vnd.openxmlformats-officedocument.presentationml.slideLayout+xml"/>
  <Override PartName="/ppt/theme/theme10.xml" ContentType="application/vnd.openxmlformats-officedocument.theme+xml"/>
  <Override PartName="/ppt/slideLayouts/slideLayout11.xml" ContentType="application/vnd.openxmlformats-officedocument.presentationml.slideLayout+xml"/>
  <Override PartName="/ppt/theme/theme11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68" r:id="rId11"/>
  </p:sldMasterIdLst>
  <p:sldIdLst>
    <p:sldId id="256" r:id="rId12"/>
    <p:sldId id="257" r:id="rId13"/>
    <p:sldId id="258" r:id="rId14"/>
    <p:sldId id="259" r:id="rId15"/>
    <p:sldId id="260" r:id="rId16"/>
    <p:sldId id="261" r:id="rId17"/>
    <p:sldId id="268" r:id="rId18"/>
    <p:sldId id="270" r:id="rId19"/>
    <p:sldId id="267" r:id="rId20"/>
    <p:sldId id="271" r:id="rId21"/>
    <p:sldId id="262" r:id="rId22"/>
    <p:sldId id="263" r:id="rId23"/>
    <p:sldId id="272" r:id="rId24"/>
    <p:sldId id="266" r:id="rId25"/>
    <p:sldId id="264" r:id="rId26"/>
    <p:sldId id="269" r:id="rId27"/>
    <p:sldId id="265" r:id="rId28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12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2.xml"/><Relationship Id="rId18" Type="http://schemas.openxmlformats.org/officeDocument/2006/relationships/slide" Target="slides/slide7.xml"/><Relationship Id="rId26" Type="http://schemas.openxmlformats.org/officeDocument/2006/relationships/slide" Target="slides/slide15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0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1.xml"/><Relationship Id="rId17" Type="http://schemas.openxmlformats.org/officeDocument/2006/relationships/slide" Target="slides/slide6.xml"/><Relationship Id="rId25" Type="http://schemas.openxmlformats.org/officeDocument/2006/relationships/slide" Target="slides/slide1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5.xml"/><Relationship Id="rId20" Type="http://schemas.openxmlformats.org/officeDocument/2006/relationships/slide" Target="slides/slide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13.xml"/><Relationship Id="rId32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4.xml"/><Relationship Id="rId23" Type="http://schemas.openxmlformats.org/officeDocument/2006/relationships/slide" Target="slides/slide12.xml"/><Relationship Id="rId28" Type="http://schemas.openxmlformats.org/officeDocument/2006/relationships/slide" Target="slides/slide17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8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3.xml"/><Relationship Id="rId22" Type="http://schemas.openxmlformats.org/officeDocument/2006/relationships/slide" Target="slides/slide11.xml"/><Relationship Id="rId27" Type="http://schemas.openxmlformats.org/officeDocument/2006/relationships/slide" Target="slides/slide16.xml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H:\082_083\ward1\migration\table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H:\082_083\ward1\migration\table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H:\082_083\ward1\migration\tables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H:\082_083\ward1\migration\tables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pie3D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01-DC74-49AA-9C82-5FD39D1BB41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03-DC74-49AA-9C82-5FD39D1BB41C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330" b="1" i="0" u="none" strike="noStrike" kern="1200" spc="0" baseline="0">
                      <a:solidFill>
                        <a:schemeClr val="accent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1-DC74-49AA-9C82-5FD39D1BB41C}"/>
                </c:ext>
              </c:extLst>
            </c:dLbl>
            <c:dLbl>
              <c:idx val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330" b="1" i="0" u="none" strike="noStrike" kern="1200" spc="0" baseline="0">
                      <a:solidFill>
                        <a:schemeClr val="accent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outEnd"/>
              <c:showLegendKey val="0"/>
              <c:showVal val="0"/>
              <c:showCatName val="1"/>
              <c:showSerName val="0"/>
              <c:showPercent val="1"/>
              <c:showBubbleSize val="0"/>
              <c:extLst>
                <c:ext xmlns:c16="http://schemas.microsoft.com/office/drawing/2014/chart" uri="{C3380CC4-5D6E-409C-BE32-E72D297353CC}">
                  <c16:uniqueId val="{00000003-DC74-49AA-9C82-5FD39D1BB41C}"/>
                </c:ext>
              </c:extLst>
            </c:dLbl>
            <c:spPr>
              <a:noFill/>
              <a:ln>
                <a:noFill/>
              </a:ln>
              <a:effectLst/>
            </c:spPr>
            <c:dLblPos val="outEnd"/>
            <c:showLegendKey val="0"/>
            <c:showVal val="0"/>
            <c:showCatName val="1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'Marrital status'!$J$4:$J$5</c:f>
              <c:strCache>
                <c:ptCount val="2"/>
                <c:pt idx="0">
                  <c:v>Unmarried</c:v>
                </c:pt>
                <c:pt idx="1">
                  <c:v>Married</c:v>
                </c:pt>
              </c:strCache>
            </c:strRef>
          </c:cat>
          <c:val>
            <c:numRef>
              <c:f>'Marrital status'!$K$4:$K$5</c:f>
              <c:numCache>
                <c:formatCode>0.00</c:formatCode>
                <c:ptCount val="2"/>
                <c:pt idx="0">
                  <c:v>37.962962962962962</c:v>
                </c:pt>
                <c:pt idx="1">
                  <c:v>62.037037037037038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C74-49AA-9C82-5FD39D1BB41C}"/>
            </c:ext>
          </c:extLst>
        </c:ser>
        <c:dLbls>
          <c:dLblPos val="out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pie3DChart>
        <c:varyColors val="1"/>
        <c:ser>
          <c:idx val="0"/>
          <c:order val="0"/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01-34EF-43BE-9FF0-F26D5EB7AC06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03-34EF-43BE-9FF0-F26D5EB7AC06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noFill/>
              </a:ln>
              <a:effectLst>
                <a:outerShdw blurRad="88900" sx="102000" sy="102000" algn="ctr" rotWithShape="0">
                  <a:prstClr val="black">
                    <a:alpha val="10000"/>
                  </a:prstClr>
                </a:outerShdw>
              </a:effectLst>
              <a:scene3d>
                <a:camera prst="orthographicFront"/>
                <a:lightRig rig="threePt" dir="t"/>
              </a:scene3d>
              <a:sp3d>
                <a:bevelT w="127000" h="127000"/>
                <a:bevelB w="127000" h="127000"/>
              </a:sp3d>
            </c:spPr>
            <c:extLst>
              <c:ext xmlns:c16="http://schemas.microsoft.com/office/drawing/2014/chart" uri="{C3380CC4-5D6E-409C-BE32-E72D297353CC}">
                <c16:uniqueId val="{00000005-34EF-43BE-9FF0-F26D5EB7AC06}"/>
              </c:ext>
            </c:extLst>
          </c:dPt>
          <c:dLbls>
            <c:dLbl>
              <c:idx val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330" b="1" i="0" u="none" strike="noStrike" kern="1200" spc="0" baseline="0">
                      <a:solidFill>
                        <a:schemeClr val="accent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outEnd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34EF-43BE-9FF0-F26D5EB7AC06}"/>
                </c:ext>
              </c:extLst>
            </c:dLbl>
            <c:dLbl>
              <c:idx val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330" b="1" i="0" u="none" strike="noStrike" kern="1200" spc="0" baseline="0">
                      <a:solidFill>
                        <a:schemeClr val="accent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outEnd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34EF-43BE-9FF0-F26D5EB7AC06}"/>
                </c:ext>
              </c:extLst>
            </c:dLbl>
            <c:dLbl>
              <c:idx val="2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330" b="1" i="0" u="none" strike="noStrike" kern="1200" spc="0" baseline="0">
                      <a:solidFill>
                        <a:schemeClr val="accent3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outEnd"/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34EF-43BE-9FF0-F26D5EB7AC06}"/>
                </c:ext>
              </c:extLst>
            </c:dLbl>
            <c:dLblPos val="outEnd"/>
            <c:showLegendKey val="0"/>
            <c:showVal val="1"/>
            <c:showCatName val="1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'Place of Origin'!$E$3:$E$5</c:f>
              <c:strCache>
                <c:ptCount val="3"/>
                <c:pt idx="0">
                  <c:v>Same palika</c:v>
                </c:pt>
                <c:pt idx="1">
                  <c:v>Other palika of same district</c:v>
                </c:pt>
                <c:pt idx="2">
                  <c:v>Other district</c:v>
                </c:pt>
              </c:strCache>
            </c:strRef>
          </c:cat>
          <c:val>
            <c:numRef>
              <c:f>'Place of Origin'!$F$3:$F$5</c:f>
              <c:numCache>
                <c:formatCode>0.00</c:formatCode>
                <c:ptCount val="3"/>
                <c:pt idx="0">
                  <c:v>5.6179775280898872</c:v>
                </c:pt>
                <c:pt idx="1">
                  <c:v>21.348314606741571</c:v>
                </c:pt>
                <c:pt idx="2">
                  <c:v>73.033707865168537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4EF-43BE-9FF0-F26D5EB7AC0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Yes</c:v>
          </c:tx>
          <c:spPr>
            <a:pattFill prst="pct10">
              <a:fgClr>
                <a:sysClr val="windowText" lastClr="000000">
                  <a:lumMod val="65000"/>
                  <a:lumOff val="35000"/>
                </a:sysClr>
              </a:fgClr>
              <a:bgClr>
                <a:schemeClr val="bg1"/>
              </a:bgClr>
            </a:pattFill>
            <a:ln w="12700">
              <a:solidFill>
                <a:schemeClr val="tx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'Changed Aspects'!$A$8:$A$11</c:f>
              <c:strCache>
                <c:ptCount val="4"/>
                <c:pt idx="0">
                  <c:v>Culture</c:v>
                </c:pt>
                <c:pt idx="1">
                  <c:v>Occupation</c:v>
                </c:pt>
                <c:pt idx="2">
                  <c:v>Food Habit</c:v>
                </c:pt>
                <c:pt idx="3">
                  <c:v>Better Education</c:v>
                </c:pt>
              </c:strCache>
            </c:strRef>
          </c:cat>
          <c:val>
            <c:numRef>
              <c:f>'Changed Aspects'!$B$8:$B$11</c:f>
              <c:numCache>
                <c:formatCode>0.0</c:formatCode>
                <c:ptCount val="4"/>
                <c:pt idx="0">
                  <c:v>16.853932584269664</c:v>
                </c:pt>
                <c:pt idx="1">
                  <c:v>13.48314606741573</c:v>
                </c:pt>
                <c:pt idx="2">
                  <c:v>8.9887640449438209</c:v>
                </c:pt>
                <c:pt idx="3">
                  <c:v>79.775280898876403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E16-4209-87C5-4FA60B736605}"/>
            </c:ext>
          </c:extLst>
        </c:ser>
        <c:ser>
          <c:idx val="1"/>
          <c:order val="1"/>
          <c:tx>
            <c:v>No</c:v>
          </c:tx>
          <c:spPr>
            <a:noFill/>
            <a:ln w="12700">
              <a:solidFill>
                <a:schemeClr val="tx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'Changed Aspects'!$A$8:$A$11</c:f>
              <c:strCache>
                <c:ptCount val="4"/>
                <c:pt idx="0">
                  <c:v>Culture</c:v>
                </c:pt>
                <c:pt idx="1">
                  <c:v>Occupation</c:v>
                </c:pt>
                <c:pt idx="2">
                  <c:v>Food Habit</c:v>
                </c:pt>
                <c:pt idx="3">
                  <c:v>Better Education</c:v>
                </c:pt>
              </c:strCache>
            </c:strRef>
          </c:cat>
          <c:val>
            <c:numRef>
              <c:f>'Changed Aspects'!$C$8:$C$11</c:f>
              <c:numCache>
                <c:formatCode>0.0</c:formatCode>
                <c:ptCount val="4"/>
                <c:pt idx="0">
                  <c:v>83.146067415730343</c:v>
                </c:pt>
                <c:pt idx="1">
                  <c:v>86.516853932584269</c:v>
                </c:pt>
                <c:pt idx="2">
                  <c:v>91.011235955056179</c:v>
                </c:pt>
                <c:pt idx="3">
                  <c:v>20.224719101123593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E16-4209-87C5-4FA60B73660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29444287"/>
        <c:axId val="195729007"/>
      </c:barChart>
      <c:catAx>
        <c:axId val="129444287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900" b="1" i="0" u="none" strike="noStrike" kern="1200" cap="none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b="1" cap="none" baseline="0"/>
                  <a:t>Changed Aspects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900" b="1" i="0" u="none" strike="noStrike" kern="1200" cap="none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cap="none" spc="0" normalizeH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95729007"/>
        <c:crosses val="autoZero"/>
        <c:auto val="1"/>
        <c:lblAlgn val="ctr"/>
        <c:lblOffset val="100"/>
        <c:noMultiLvlLbl val="0"/>
      </c:catAx>
      <c:valAx>
        <c:axId val="19572900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900" b="1" i="0" u="none" strike="noStrike" kern="1200" cap="none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b="1" cap="none" baseline="0"/>
                  <a:t>Percentage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900" b="1" i="0" u="none" strike="noStrike" kern="1200" cap="none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.0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944428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chemeClr val="bg1"/>
    </a:solidFill>
    <a:ln w="12700" cap="flat" cmpd="sng" algn="ctr">
      <a:solidFill>
        <a:schemeClr val="tx1"/>
      </a:solidFill>
      <a:round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noFill/>
            <a:ln w="12700">
              <a:solidFill>
                <a:schemeClr val="tx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'Problems facing in destination'!$E$2:$E$6</c:f>
              <c:strCache>
                <c:ptCount val="5"/>
                <c:pt idx="0">
                  <c:v>Inadequate Development Funding</c:v>
                </c:pt>
                <c:pt idx="1">
                  <c:v>Inadequate Drinking water supply</c:v>
                </c:pt>
                <c:pt idx="2">
                  <c:v>Lack of employment opportunity</c:v>
                </c:pt>
                <c:pt idx="3">
                  <c:v>Insufficient health facilities</c:v>
                </c:pt>
                <c:pt idx="4">
                  <c:v> Bad social environment</c:v>
                </c:pt>
              </c:strCache>
            </c:strRef>
          </c:cat>
          <c:val>
            <c:numRef>
              <c:f>'Problems facing in destination'!$F$2:$F$6</c:f>
              <c:numCache>
                <c:formatCode>0.0</c:formatCode>
                <c:ptCount val="5"/>
                <c:pt idx="0">
                  <c:v>39.325842696629216</c:v>
                </c:pt>
                <c:pt idx="1">
                  <c:v>7.8651685393258424</c:v>
                </c:pt>
                <c:pt idx="2">
                  <c:v>15.730337078651685</c:v>
                </c:pt>
                <c:pt idx="3">
                  <c:v>19.101123595505616</c:v>
                </c:pt>
                <c:pt idx="4">
                  <c:v>17.977528089887642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466-4A99-8BE3-CBB90256D25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602641824"/>
        <c:axId val="1439378192"/>
      </c:barChart>
      <c:catAx>
        <c:axId val="160264182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b="1"/>
                  <a:t>Problems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alpha val="95000"/>
              </a:schemeClr>
            </a:solidFill>
            <a:round/>
          </a:ln>
          <a:effectLst/>
        </c:spPr>
        <c:txPr>
          <a:bodyPr rot="-1800000" spcFirstLastPara="1" vertOverflow="ellipsis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439378192"/>
        <c:crosses val="autoZero"/>
        <c:auto val="1"/>
        <c:lblAlgn val="ctr"/>
        <c:lblOffset val="100"/>
        <c:noMultiLvlLbl val="0"/>
      </c:catAx>
      <c:valAx>
        <c:axId val="1439378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b="1"/>
                  <a:t>Percentage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1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.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0264182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solidFill>
      <a:schemeClr val="bg1"/>
    </a:solidFill>
    <a:ln w="3175" cap="flat" cmpd="sng" algn="ctr">
      <a:solidFill>
        <a:schemeClr val="tx1"/>
      </a:solidFill>
      <a:round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cs:styleClr val="auto"/>
    </cs:fontRef>
    <cs:defRPr sz="1330" b="1" i="0" u="none" strike="noStrike" kern="1200" spc="0" baseline="0"/>
  </cs:dataLabel>
  <cs:dataLabelCallout>
    <cs:lnRef idx="0">
      <cs:styleClr val="auto"/>
    </cs:lnRef>
    <cs:fillRef idx="0"/>
    <cs:effectRef idx="0"/>
    <cs:fontRef idx="minor">
      <cs:styleClr val="auto"/>
    </cs:fontRef>
    <cs:spPr>
      <a:solidFill>
        <a:schemeClr val="lt1"/>
      </a:solidFill>
      <a:ln>
        <a:solidFill>
          <a:schemeClr val="phClr"/>
        </a:solidFill>
      </a:ln>
    </cs:spPr>
    <cs:defRPr sz="1330" b="1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63500" sx="102000" sy="102000" algn="ctr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88900" sx="102000" sy="102000" algn="ctr" rotWithShape="0">
          <a:prstClr val="black">
            <a:alpha val="10000"/>
          </a:prstClr>
        </a:outerShdw>
      </a:effectLst>
      <a:scene3d>
        <a:camera prst="orthographicFront"/>
        <a:lightRig rig="threePt" dir="t"/>
      </a:scene3d>
      <a:sp3d>
        <a:bevelT w="127000" h="127000"/>
        <a:bevelB w="127000" h="127000"/>
      </a:sp3d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cs:styleClr val="auto"/>
    </cs:fontRef>
    <cs:defRPr sz="1330" b="1" i="0" u="none" strike="noStrike" kern="1200" spc="0" baseline="0"/>
  </cs:dataLabel>
  <cs:dataLabelCallout>
    <cs:lnRef idx="0">
      <cs:styleClr val="auto"/>
    </cs:lnRef>
    <cs:fillRef idx="0"/>
    <cs:effectRef idx="0"/>
    <cs:fontRef idx="minor">
      <cs:styleClr val="auto"/>
    </cs:fontRef>
    <cs:spPr>
      <a:solidFill>
        <a:schemeClr val="lt1"/>
      </a:solidFill>
      <a:ln>
        <a:solidFill>
          <a:schemeClr val="phClr"/>
        </a:solidFill>
      </a:ln>
    </cs:spPr>
    <cs:defRPr sz="1330" b="1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63500" sx="102000" sy="102000" algn="ctr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88900" sx="102000" sy="102000" algn="ctr" rotWithShape="0">
          <a:prstClr val="black">
            <a:alpha val="10000"/>
          </a:prstClr>
        </a:outerShdw>
      </a:effectLst>
      <a:scene3d>
        <a:camera prst="orthographicFront"/>
        <a:lightRig rig="threePt" dir="t"/>
      </a:scene3d>
      <a:sp3d>
        <a:bevelT w="127000" h="127000"/>
        <a:bevelB w="127000" h="127000"/>
      </a:sp3d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cap="all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1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b="0" kern="1200" cap="none" spc="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75000"/>
        <a:lumOff val="25000"/>
      </a:schemeClr>
    </cs:fontRef>
    <cs:spPr>
      <a:solidFill>
        <a:schemeClr val="dk1">
          <a:lumMod val="15000"/>
          <a:lumOff val="85000"/>
        </a:schemeClr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38100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Marker>
  <cs:dataPointMarkerLayout symbol="circle" size="8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ajor">
      <a:schemeClr val="tx1">
        <a:lumMod val="65000"/>
        <a:lumOff val="35000"/>
      </a:schemeClr>
    </cs:fontRef>
    <cs:defRPr sz="2000" b="0" kern="1200" cap="none" spc="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round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FE4BCD7C-4E6B-4D1D-9DCC-3BC59F4B4E27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9D28E5D-BCBE-47DF-A25E-A50719228286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3EA6D002-5A32-42A2-80B3-334679ECCE72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600DBC7-82F3-49EC-BA86-B1BC9FC8AABC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896E8BBA-21B4-4871-A735-C755D8681C34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1A2FAE6B-08E1-473A-8099-C91064D40E23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BC0395A3-E10E-4CCB-A821-809B5D74CF04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618A9FBC-9116-4B9D-B88D-48045DA3E043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9AA4B0FF-CADF-4676-ADE4-CE7A47FEBD46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lstStyle/>
          <a:p>
            <a:fld id="{A187AA11-E5BB-4488-BAC0-DEA4E7303AD8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lstStyle/>
          <a:p>
            <a:fld id="{E3525FE3-197F-46CE-9125-E226D6832D55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0.xml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46523AF-018D-4175-81D4-DE6B8EF675B0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DA4BCB-CA3D-45FC-8AE2-B70C2AA71078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BEBF5E9-16A0-4DB0-ACDE-B8F63F737146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7D6EE41-119A-4D95-AC17-295D900D5478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4000" b="1" strike="noStrike" cap="all" spc="-1">
                <a:solidFill>
                  <a:schemeClr val="dk1"/>
                </a:solidFill>
                <a:latin typeface="Calibri"/>
              </a:rPr>
              <a:t>Click to edit Master title style</a:t>
            </a:r>
            <a:endParaRPr lang="en-US" sz="4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C29173C-7DAF-4502-BA0B-2D0040939E9A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B5F6090-1FDD-471A-BE79-EBAD5FB1BB42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  <a:endParaRPr lang="en-US" sz="24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B84C23-1F44-4259-8374-FEF45DA757F0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7C5A773-427B-412E-8C03-4BA470DC8770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EE2F3BE-C7E5-49AA-9684-FF1BAF7042FF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Calibri"/>
              </a:rPr>
              <a:t>Click to edit the title text format</a:t>
            </a: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2000" b="1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>
                <a:solidFill>
                  <a:schemeClr val="dk1"/>
                </a:solidFill>
                <a:latin typeface="Calibri"/>
              </a:rPr>
              <a:t>Second level</a:t>
            </a: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Third level</a:t>
            </a: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level</a:t>
            </a: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level</a:t>
            </a: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20B8931-6A85-46F0-8D16-EB463E47B203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457200">
              <a:lnSpc>
                <a:spcPct val="100000"/>
              </a:lnSpc>
              <a:buNone/>
            </a:pPr>
            <a:r>
              <a:rPr lang="en-US" sz="2000" b="1" strike="noStrike" spc="-1">
                <a:solidFill>
                  <a:schemeClr val="dk1"/>
                </a:solidFill>
                <a:latin typeface="Calibri"/>
              </a:rPr>
              <a:t>Click to edit Master title style</a:t>
            </a:r>
            <a:endParaRPr lang="en-US" sz="2000" b="0" strike="noStrike" spc="-1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chemeClr val="dk1"/>
                </a:solidFill>
                <a:latin typeface="Calibri"/>
              </a:rPr>
              <a:t>Click to edit Master text styles</a:t>
            </a: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B50A5CB-6694-43E8-A23B-55AF74E97786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Calibri"/>
              </a:rPr>
              <a:t>‹#›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4"/>
          <p:cNvSpPr/>
          <p:nvPr/>
        </p:nvSpPr>
        <p:spPr>
          <a:xfrm>
            <a:off x="995423" y="1645920"/>
            <a:ext cx="10579261" cy="150665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3200" b="1" strike="noStrike" spc="-1" dirty="0">
                <a:solidFill>
                  <a:srgbClr val="111111"/>
                </a:solidFill>
                <a:latin typeface="Georgia"/>
              </a:rPr>
              <a:t>Causes and Consequences of In-Migration in </a:t>
            </a:r>
            <a:r>
              <a:rPr lang="en-US" sz="3200" b="1" strike="noStrike" spc="-1" dirty="0" err="1">
                <a:solidFill>
                  <a:srgbClr val="111111"/>
                </a:solidFill>
                <a:latin typeface="Georgia"/>
              </a:rPr>
              <a:t>Shankharapur</a:t>
            </a:r>
            <a:r>
              <a:rPr lang="en-US" sz="3200" b="1" strike="noStrike" spc="-1" dirty="0">
                <a:solidFill>
                  <a:srgbClr val="111111"/>
                </a:solidFill>
                <a:latin typeface="Georgia"/>
              </a:rPr>
              <a:t> </a:t>
            </a:r>
            <a:r>
              <a:rPr lang="en-US" sz="3200" b="1" spc="-1" dirty="0">
                <a:solidFill>
                  <a:srgbClr val="111111"/>
                </a:solidFill>
                <a:latin typeface="Georgia"/>
              </a:rPr>
              <a:t>Municipality</a:t>
            </a:r>
            <a:r>
              <a:rPr lang="en-US" sz="3200" b="1" strike="noStrike" spc="-1" dirty="0">
                <a:solidFill>
                  <a:srgbClr val="111111"/>
                </a:solidFill>
                <a:latin typeface="Georgia"/>
              </a:rPr>
              <a:t> of Kathmandu, Nepal</a:t>
            </a:r>
            <a:endParaRPr lang="en-US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800" b="1" strike="noStrike" spc="-1" dirty="0">
                <a:solidFill>
                  <a:srgbClr val="555555"/>
                </a:solidFill>
                <a:latin typeface="Arial"/>
              </a:rPr>
              <a:t>A Thesis Defense Presentation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Rectangle 5"/>
          <p:cNvSpPr/>
          <p:nvPr/>
        </p:nvSpPr>
        <p:spPr>
          <a:xfrm>
            <a:off x="1097280" y="3931920"/>
            <a:ext cx="9996840" cy="12240"/>
          </a:xfrm>
          <a:prstGeom prst="rect">
            <a:avLst/>
          </a:prstGeom>
          <a:solidFill>
            <a:srgbClr val="DDDDDD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32400" rIns="90000" bIns="-3240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" name="TextBox 6"/>
          <p:cNvSpPr/>
          <p:nvPr/>
        </p:nvSpPr>
        <p:spPr>
          <a:xfrm>
            <a:off x="1097280" y="4206240"/>
            <a:ext cx="9996840" cy="730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400" b="1" strike="noStrike" spc="-1" dirty="0">
                <a:solidFill>
                  <a:srgbClr val="111111"/>
                </a:solidFill>
                <a:latin typeface="Arial"/>
              </a:rPr>
              <a:t>Submitted By:  Kristal Suwal  (Exam Roll No: 2030013)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  <a:p>
            <a:r>
              <a:rPr lang="en-US" sz="1400" b="1" strike="noStrike" spc="-1" dirty="0">
                <a:solidFill>
                  <a:srgbClr val="111111"/>
                </a:solidFill>
                <a:latin typeface="Arial"/>
              </a:rPr>
              <a:t>Supervisor:  Mr. Tirtha Raj Timsina, Lecturer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  <a:p>
            <a:r>
              <a:rPr lang="en-US" sz="1400" b="1" strike="noStrike" spc="-1" dirty="0">
                <a:solidFill>
                  <a:srgbClr val="111111"/>
                </a:solidFill>
                <a:latin typeface="Arial"/>
              </a:rPr>
              <a:t>Institution:  Bhaktapur Multiple Campus, Tribhuvan University  |  October 2026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Box 2"/>
          <p:cNvSpPr/>
          <p:nvPr/>
        </p:nvSpPr>
        <p:spPr>
          <a:xfrm>
            <a:off x="731520" y="640080"/>
            <a:ext cx="10698120" cy="4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strike="noStrike" spc="-1">
                <a:solidFill>
                  <a:srgbClr val="111111"/>
                </a:solidFill>
                <a:latin typeface="Georgia"/>
              </a:rPr>
              <a:t>1. Introduction &amp; Background</a:t>
            </a:r>
            <a:endParaRPr lang="en-US" sz="2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Rectangle 3"/>
          <p:cNvSpPr/>
          <p:nvPr/>
        </p:nvSpPr>
        <p:spPr>
          <a:xfrm>
            <a:off x="731520" y="1371600"/>
            <a:ext cx="10728360" cy="18720"/>
          </a:xfrm>
          <a:prstGeom prst="rect">
            <a:avLst/>
          </a:prstGeom>
          <a:solidFill>
            <a:srgbClr val="000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731520" y="1637883"/>
            <a:ext cx="10728360" cy="4672482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180975" indent="-180975" algn="just">
              <a:buFont typeface="Arial" panose="020B0604020202020204" pitchFamily="34" charset="0"/>
              <a:buChar char="•"/>
            </a:pPr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Migration is a key driver of population change alongside fertility and mortality.</a:t>
            </a:r>
          </a:p>
          <a:p>
            <a:pPr marL="180975" indent="-180975" algn="just"/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• Increasing shift of population from rural/hilly areas toward urban and sub-urban centers.</a:t>
            </a:r>
          </a:p>
          <a:p>
            <a:pPr marL="180975" indent="-180975" algn="just"/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• Serves as a mechanism balancing population distribution with economic opportunities and social services.</a:t>
            </a:r>
          </a:p>
          <a:p>
            <a:pPr marL="180975" indent="-180975" algn="just"/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• Post-2015 earthquake reconstruction accelerated population movement to sub-urban place like 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rial"/>
              </a:rPr>
              <a:t>Shankharapur</a:t>
            </a:r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.</a:t>
            </a:r>
          </a:p>
          <a:p>
            <a:pPr algn="just"/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50000"/>
              </a:lnSpc>
            </a:pPr>
            <a:r>
              <a:rPr lang="en-US" sz="1800" b="1" strike="noStrike" spc="-1" dirty="0">
                <a:solidFill>
                  <a:srgbClr val="000000"/>
                </a:solidFill>
                <a:latin typeface="Arial"/>
              </a:rPr>
              <a:t>Focus Area: </a:t>
            </a:r>
            <a:r>
              <a:rPr lang="en-US" sz="1800" b="1" strike="noStrike" spc="-1" dirty="0" err="1">
                <a:solidFill>
                  <a:srgbClr val="000000"/>
                </a:solidFill>
                <a:latin typeface="Arial"/>
              </a:rPr>
              <a:t>Shankharapur</a:t>
            </a:r>
            <a:r>
              <a:rPr lang="en-US" sz="1800" b="1" strike="noStrike" spc="-1" dirty="0">
                <a:solidFill>
                  <a:srgbClr val="000000"/>
                </a:solidFill>
                <a:latin typeface="Arial"/>
              </a:rPr>
              <a:t> Ward 9</a:t>
            </a:r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marL="180975" indent="-180975" algn="just"/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• Geographic </a:t>
            </a:r>
            <a:r>
              <a:rPr lang="en-US" spc="-1" dirty="0">
                <a:solidFill>
                  <a:srgbClr val="000000"/>
                </a:solidFill>
                <a:latin typeface="Arial"/>
              </a:rPr>
              <a:t>Location</a:t>
            </a:r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: 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rial"/>
              </a:rPr>
              <a:t>Shankharapur</a:t>
            </a:r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 Municipality Ward No. 9 (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rial"/>
              </a:rPr>
              <a:t>Sankhu</a:t>
            </a:r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), located in eastern region of  Kathmandu Valley.</a:t>
            </a:r>
          </a:p>
          <a:p>
            <a:pPr algn="just"/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• </a:t>
            </a:r>
            <a:r>
              <a:rPr lang="en-US" spc="-1" dirty="0">
                <a:solidFill>
                  <a:srgbClr val="000000"/>
                </a:solidFill>
                <a:latin typeface="Arial"/>
              </a:rPr>
              <a:t>Sub</a:t>
            </a:r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-Urban Transition: Rapidly developing area experiencing a steady inflow of in-migrants.</a:t>
            </a:r>
          </a:p>
          <a:p>
            <a:pPr marL="180975" indent="-180975" algn="just"/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• Research Focus: Investigating why people relocate here and examining the resulting socio-economic impacts.</a:t>
            </a:r>
          </a:p>
          <a:p>
            <a:pPr algn="just"/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• Study Scale: Complete enumeration covering 89 migrant households (345 individuals) in the ward.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Box 2"/>
          <p:cNvSpPr/>
          <p:nvPr/>
        </p:nvSpPr>
        <p:spPr>
          <a:xfrm>
            <a:off x="731520" y="640080"/>
            <a:ext cx="10698120" cy="4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strike="noStrike" spc="-1">
                <a:solidFill>
                  <a:srgbClr val="111111"/>
                </a:solidFill>
                <a:latin typeface="Georgia"/>
              </a:rPr>
              <a:t>2. Objectives of the Study</a:t>
            </a:r>
            <a:endParaRPr lang="en-US" sz="2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Rectangle 3"/>
          <p:cNvSpPr/>
          <p:nvPr/>
        </p:nvSpPr>
        <p:spPr>
          <a:xfrm>
            <a:off x="731520" y="1371600"/>
            <a:ext cx="10728360" cy="18720"/>
          </a:xfrm>
          <a:prstGeom prst="rect">
            <a:avLst/>
          </a:prstGeom>
          <a:solidFill>
            <a:srgbClr val="000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685800" y="2057400"/>
            <a:ext cx="10515600" cy="2971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To examine the primary causes for in-migration into the study area.</a:t>
            </a:r>
          </a:p>
          <a:p>
            <a:pPr algn="just"/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To assess the existing socio-economic and demographic nature and characteristics of migrant households.</a:t>
            </a:r>
          </a:p>
          <a:p>
            <a:pPr algn="just"/>
            <a:endParaRPr lang="en-US" sz="1800" b="0" strike="noStrike" spc="-1" dirty="0">
              <a:solidFill>
                <a:srgbClr val="000000"/>
              </a:solidFill>
              <a:latin typeface="Arial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To explore the consequences of in-migration at the place of destination.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TextBox 75"/>
          <p:cNvSpPr txBox="1"/>
          <p:nvPr/>
        </p:nvSpPr>
        <p:spPr>
          <a:xfrm>
            <a:off x="685800" y="1600200"/>
            <a:ext cx="10744200" cy="4351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just"/>
            <a:r>
              <a:rPr lang="en-US" sz="1800" b="1" strike="noStrike" spc="-1" dirty="0">
                <a:solidFill>
                  <a:srgbClr val="000000"/>
                </a:solidFill>
                <a:latin typeface="Arial"/>
              </a:rPr>
              <a:t>Geographical Scope</a:t>
            </a:r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:</a:t>
            </a:r>
            <a:endParaRPr lang="en-US" sz="1800" b="0" strike="noStrike" spc="-1" dirty="0">
              <a:solidFill>
                <a:srgbClr val="000000"/>
              </a:solidFill>
              <a:latin typeface="Arial"/>
              <a:ea typeface="Noto Sans CJK SC"/>
            </a:endParaRPr>
          </a:p>
          <a:p>
            <a:pPr algn="just"/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Confined specifically to 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rial"/>
              </a:rPr>
              <a:t>Shankharapur</a:t>
            </a:r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 Ward 9 (</a:t>
            </a:r>
            <a:r>
              <a:rPr lang="en-US" sz="1800" b="0" strike="noStrike" spc="-1" dirty="0" err="1">
                <a:solidFill>
                  <a:srgbClr val="000000"/>
                </a:solidFill>
                <a:latin typeface="Arial"/>
              </a:rPr>
              <a:t>Sankhu</a:t>
            </a:r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); findings reflect localized sub-urban movement and cannot be broadly generalized across all municipal regions.</a:t>
            </a:r>
            <a:endParaRPr lang="en-US" sz="1800" b="0" strike="noStrike" spc="-1" dirty="0">
              <a:solidFill>
                <a:srgbClr val="000000"/>
              </a:solidFill>
              <a:latin typeface="Arial"/>
              <a:ea typeface="Noto Sans CJK SC"/>
            </a:endParaRPr>
          </a:p>
          <a:p>
            <a:pPr algn="just"/>
            <a:endParaRPr lang="en-US" sz="1800" b="0" strike="noStrike" spc="-1" dirty="0">
              <a:solidFill>
                <a:srgbClr val="000000"/>
              </a:solidFill>
              <a:latin typeface="Arial"/>
              <a:ea typeface="Noto Sans CJK SC"/>
            </a:endParaRPr>
          </a:p>
          <a:p>
            <a:pPr algn="just"/>
            <a:r>
              <a:rPr lang="en-US" sz="1800" b="1" strike="noStrike" spc="-1" dirty="0">
                <a:solidFill>
                  <a:srgbClr val="000000"/>
                </a:solidFill>
                <a:latin typeface="Arial"/>
              </a:rPr>
              <a:t>Time &amp; Resource Constraints:</a:t>
            </a:r>
            <a:endParaRPr lang="en-US" sz="1800" b="0" strike="noStrike" spc="-1" dirty="0">
              <a:solidFill>
                <a:srgbClr val="000000"/>
              </a:solidFill>
              <a:latin typeface="Arial"/>
              <a:ea typeface="Noto Sans CJK SC"/>
            </a:endParaRPr>
          </a:p>
          <a:p>
            <a:pPr algn="just"/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Conducted within a fixed academic timeframe and resource budget, limiting longitudinal tracking and multi-ward institutional data collection.</a:t>
            </a:r>
            <a:endParaRPr lang="en-US" sz="1800" b="0" strike="noStrike" spc="-1" dirty="0">
              <a:solidFill>
                <a:srgbClr val="000000"/>
              </a:solidFill>
              <a:latin typeface="Arial"/>
              <a:ea typeface="Noto Sans CJK SC"/>
            </a:endParaRPr>
          </a:p>
          <a:p>
            <a:pPr algn="just"/>
            <a:endParaRPr lang="en-US" sz="1800" b="0" strike="noStrike" spc="-1" dirty="0">
              <a:solidFill>
                <a:srgbClr val="000000"/>
              </a:solidFill>
              <a:latin typeface="Arial"/>
              <a:ea typeface="Noto Sans CJK SC"/>
            </a:endParaRPr>
          </a:p>
          <a:p>
            <a:pPr algn="just"/>
            <a:r>
              <a:rPr lang="en-US" sz="1800" b="1" strike="noStrike" spc="-1" dirty="0">
                <a:solidFill>
                  <a:srgbClr val="000000"/>
                </a:solidFill>
                <a:latin typeface="Arial"/>
              </a:rPr>
              <a:t>Focus on Settled Households:</a:t>
            </a:r>
            <a:endParaRPr lang="en-US" sz="1800" b="0" strike="noStrike" spc="-1" dirty="0">
              <a:solidFill>
                <a:srgbClr val="000000"/>
              </a:solidFill>
              <a:latin typeface="Arial"/>
              <a:ea typeface="Noto Sans CJK SC"/>
            </a:endParaRPr>
          </a:p>
          <a:p>
            <a:pPr algn="just"/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Focused on registered resident migrant households (89 households); short-term, floating, or seasonal laborers may not be fully captured.</a:t>
            </a:r>
            <a:endParaRPr lang="en-US" sz="1800" b="0" strike="noStrike" spc="-1" dirty="0">
              <a:solidFill>
                <a:srgbClr val="000000"/>
              </a:solidFill>
              <a:latin typeface="Arial"/>
              <a:ea typeface="Noto Sans CJK SC"/>
            </a:endParaRPr>
          </a:p>
          <a:p>
            <a:pPr algn="just"/>
            <a:endParaRPr lang="en-US" sz="1800" b="0" strike="noStrike" spc="-1" dirty="0">
              <a:solidFill>
                <a:srgbClr val="000000"/>
              </a:solidFill>
              <a:latin typeface="Arial"/>
              <a:ea typeface="Noto Sans CJK SC"/>
            </a:endParaRPr>
          </a:p>
          <a:p>
            <a:pPr algn="just"/>
            <a:r>
              <a:rPr lang="en-US" sz="1800" b="1" strike="noStrike" spc="-1" dirty="0">
                <a:solidFill>
                  <a:srgbClr val="000000"/>
                </a:solidFill>
                <a:latin typeface="Arial"/>
              </a:rPr>
              <a:t>Self-Reported Survey Data:</a:t>
            </a:r>
            <a:endParaRPr lang="en-US" sz="1800" b="0" strike="noStrike" spc="-1" dirty="0">
              <a:solidFill>
                <a:srgbClr val="000000"/>
              </a:solidFill>
              <a:latin typeface="Arial"/>
              <a:ea typeface="Noto Sans CJK SC"/>
            </a:endParaRPr>
          </a:p>
          <a:p>
            <a:pPr algn="just"/>
            <a:r>
              <a:rPr lang="en-US" sz="1800" b="0" strike="noStrike" spc="-1" dirty="0">
                <a:solidFill>
                  <a:srgbClr val="000000"/>
                </a:solidFill>
                <a:latin typeface="Arial"/>
              </a:rPr>
              <a:t>Relies on household head disclosures, which are subject to individual perception and potential hesitation to share sensitive income or financial details.</a:t>
            </a:r>
            <a:endParaRPr lang="en-US" sz="1800" b="0" strike="noStrike" spc="-1" dirty="0">
              <a:solidFill>
                <a:srgbClr val="000000"/>
              </a:solidFill>
              <a:latin typeface="Arial"/>
              <a:ea typeface="Noto Sans CJK SC"/>
            </a:endParaRPr>
          </a:p>
          <a:p>
            <a:endParaRPr lang="en-US" sz="1800" b="0" strike="noStrike" spc="-1" dirty="0">
              <a:solidFill>
                <a:srgbClr val="000000"/>
              </a:solidFill>
              <a:latin typeface="Arial"/>
              <a:ea typeface="Noto Sans CJK SC"/>
            </a:endParaRPr>
          </a:p>
          <a:p>
            <a:endParaRPr lang="en-US" sz="1800" b="0" strike="noStrike" spc="-1" dirty="0">
              <a:solidFill>
                <a:srgbClr val="000000"/>
              </a:solidFill>
              <a:latin typeface="Arial"/>
              <a:ea typeface="Noto Sans CJK SC"/>
            </a:endParaRPr>
          </a:p>
        </p:txBody>
      </p:sp>
      <p:sp>
        <p:nvSpPr>
          <p:cNvPr id="77" name="TextBox 1"/>
          <p:cNvSpPr/>
          <p:nvPr/>
        </p:nvSpPr>
        <p:spPr>
          <a:xfrm>
            <a:off x="731520" y="365760"/>
            <a:ext cx="10698120" cy="2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Box 2"/>
          <p:cNvSpPr/>
          <p:nvPr/>
        </p:nvSpPr>
        <p:spPr>
          <a:xfrm>
            <a:off x="731520" y="640080"/>
            <a:ext cx="10698120" cy="4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strike="noStrike" spc="-1">
                <a:solidFill>
                  <a:srgbClr val="111111"/>
                </a:solidFill>
                <a:latin typeface="Georgia"/>
              </a:rPr>
              <a:t>3. Limitations</a:t>
            </a:r>
            <a:endParaRPr lang="en-US" sz="2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Rectangle 3"/>
          <p:cNvSpPr/>
          <p:nvPr/>
        </p:nvSpPr>
        <p:spPr>
          <a:xfrm>
            <a:off x="731520" y="1371600"/>
            <a:ext cx="10728360" cy="18720"/>
          </a:xfrm>
          <a:prstGeom prst="rect">
            <a:avLst/>
          </a:prstGeom>
          <a:solidFill>
            <a:srgbClr val="000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Box 79"/>
          <p:cNvSpPr txBox="1"/>
          <p:nvPr/>
        </p:nvSpPr>
        <p:spPr>
          <a:xfrm>
            <a:off x="914400" y="1951975"/>
            <a:ext cx="10515240" cy="65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algn="just"/>
            <a:r>
              <a:rPr lang="en-US" b="0" strike="noStrike" spc="-1" dirty="0">
                <a:solidFill>
                  <a:srgbClr val="111111"/>
                </a:solidFill>
                <a:latin typeface="Arial"/>
              </a:rPr>
              <a:t>• Location: </a:t>
            </a:r>
            <a:r>
              <a:rPr lang="en-US" b="0" strike="noStrike" spc="-1" dirty="0" err="1">
                <a:solidFill>
                  <a:srgbClr val="111111"/>
                </a:solidFill>
                <a:latin typeface="Arial"/>
              </a:rPr>
              <a:t>Shankharapur</a:t>
            </a:r>
            <a:r>
              <a:rPr lang="en-US" b="0" strike="noStrike" spc="-1" dirty="0">
                <a:solidFill>
                  <a:srgbClr val="111111"/>
                </a:solidFill>
                <a:latin typeface="Arial"/>
              </a:rPr>
              <a:t> Municipality Ward No. 9 (</a:t>
            </a:r>
            <a:r>
              <a:rPr lang="en-US" b="0" strike="noStrike" spc="-1" dirty="0" err="1">
                <a:solidFill>
                  <a:srgbClr val="111111"/>
                </a:solidFill>
                <a:latin typeface="Arial"/>
              </a:rPr>
              <a:t>Sankhu</a:t>
            </a:r>
            <a:r>
              <a:rPr lang="en-US" b="0" strike="noStrike" spc="-1" dirty="0">
                <a:solidFill>
                  <a:srgbClr val="111111"/>
                </a:solidFill>
                <a:latin typeface="Arial"/>
              </a:rPr>
              <a:t>), Kathmandu.</a:t>
            </a:r>
            <a:endParaRPr lang="en-US" b="0" strike="noStrike" spc="-1" dirty="0">
              <a:solidFill>
                <a:srgbClr val="000000"/>
              </a:solidFill>
              <a:latin typeface="Arial"/>
            </a:endParaRPr>
          </a:p>
          <a:p>
            <a:pPr algn="just"/>
            <a:r>
              <a:rPr lang="en-US" b="0" strike="noStrike" spc="-1" dirty="0">
                <a:solidFill>
                  <a:srgbClr val="111111"/>
                </a:solidFill>
                <a:latin typeface="Arial"/>
              </a:rPr>
              <a:t>• Selection: Purposive selection based on rapid sub-urban growth and high migrant inflow.</a:t>
            </a:r>
          </a:p>
          <a:p>
            <a:pPr algn="just"/>
            <a:endParaRPr lang="en-US" spc="-1" dirty="0">
              <a:solidFill>
                <a:srgbClr val="111111"/>
              </a:solidFill>
              <a:latin typeface="Arial"/>
            </a:endParaRPr>
          </a:p>
          <a:p>
            <a:pPr algn="just"/>
            <a:endParaRPr lang="en-US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Box 2"/>
          <p:cNvSpPr/>
          <p:nvPr/>
        </p:nvSpPr>
        <p:spPr>
          <a:xfrm>
            <a:off x="731520" y="640080"/>
            <a:ext cx="10698120" cy="4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strike="noStrike" spc="-1">
                <a:solidFill>
                  <a:srgbClr val="111111"/>
                </a:solidFill>
                <a:latin typeface="Georgia"/>
              </a:rPr>
              <a:t>4. Research Methodology</a:t>
            </a:r>
            <a:endParaRPr lang="en-US" sz="2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Rectangle 3"/>
          <p:cNvSpPr/>
          <p:nvPr/>
        </p:nvSpPr>
        <p:spPr>
          <a:xfrm>
            <a:off x="731520" y="1371600"/>
            <a:ext cx="10728360" cy="18720"/>
          </a:xfrm>
          <a:prstGeom prst="rect">
            <a:avLst/>
          </a:prstGeom>
          <a:solidFill>
            <a:srgbClr val="000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747359" y="1590735"/>
            <a:ext cx="3503094" cy="386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b="1" strike="noStrike" spc="-1" dirty="0">
                <a:solidFill>
                  <a:srgbClr val="1111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Study Area &amp; Selection</a:t>
            </a:r>
            <a:endParaRPr lang="en-US" b="0" strike="noStrike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762359" y="2591399"/>
            <a:ext cx="3789543" cy="386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b="1" spc="-1" dirty="0">
                <a:solidFill>
                  <a:srgbClr val="1111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Sampling &amp; Population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4400" y="2919055"/>
            <a:ext cx="10515240" cy="857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algn="just"/>
            <a:r>
              <a:rPr lang="en-US" b="0" strike="noStrike" spc="-1" dirty="0">
                <a:solidFill>
                  <a:srgbClr val="111111"/>
                </a:solidFill>
                <a:latin typeface="Arial"/>
              </a:rPr>
              <a:t>• Complete Enumeration: Total of 89 migrant households surveyed.</a:t>
            </a:r>
            <a:endParaRPr lang="en-US" b="0" strike="noStrike" spc="-1" dirty="0">
              <a:solidFill>
                <a:srgbClr val="000000"/>
              </a:solidFill>
              <a:latin typeface="Arial"/>
            </a:endParaRPr>
          </a:p>
          <a:p>
            <a:pPr algn="just"/>
            <a:r>
              <a:rPr lang="en-US" b="0" strike="noStrike" spc="-1" dirty="0">
                <a:solidFill>
                  <a:srgbClr val="111111"/>
                </a:solidFill>
                <a:latin typeface="Arial"/>
              </a:rPr>
              <a:t>• Total </a:t>
            </a:r>
            <a:r>
              <a:rPr lang="en-US" spc="-1" dirty="0">
                <a:solidFill>
                  <a:srgbClr val="111111"/>
                </a:solidFill>
                <a:latin typeface="Arial"/>
              </a:rPr>
              <a:t>Migrants</a:t>
            </a:r>
            <a:r>
              <a:rPr lang="en-US" b="0" strike="noStrike" spc="-1" dirty="0">
                <a:solidFill>
                  <a:srgbClr val="111111"/>
                </a:solidFill>
                <a:latin typeface="Arial"/>
              </a:rPr>
              <a:t>: 345 individuals (181 males, 164 females).</a:t>
            </a:r>
            <a:endParaRPr lang="en-US" b="0" strike="noStrike" spc="-1" dirty="0">
              <a:solidFill>
                <a:srgbClr val="000000"/>
              </a:solidFill>
              <a:latin typeface="Arial"/>
            </a:endParaRPr>
          </a:p>
          <a:p>
            <a:pPr algn="just"/>
            <a:r>
              <a:rPr lang="en-US" b="0" strike="noStrike" spc="-1" dirty="0">
                <a:solidFill>
                  <a:srgbClr val="111111"/>
                </a:solidFill>
                <a:latin typeface="Arial"/>
              </a:rPr>
              <a:t>• Sample Coverage: 100% census of identified migrant households</a:t>
            </a:r>
            <a:r>
              <a:rPr lang="en-US" sz="1600" b="0" strike="noStrike" spc="-1" dirty="0">
                <a:solidFill>
                  <a:srgbClr val="111111"/>
                </a:solidFill>
                <a:latin typeface="Arial"/>
              </a:rPr>
              <a:t>.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704880" y="3856639"/>
            <a:ext cx="4259006" cy="386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b="1" spc="-1" dirty="0">
                <a:solidFill>
                  <a:srgbClr val="1111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en-US" b="1" strike="noStrike" spc="-1" dirty="0">
                <a:solidFill>
                  <a:srgbClr val="1111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spc="-1" dirty="0">
                <a:solidFill>
                  <a:srgbClr val="1111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Collection</a:t>
            </a:r>
            <a:r>
              <a:rPr lang="en-US" b="1" strike="noStrike" spc="-1" dirty="0">
                <a:solidFill>
                  <a:srgbClr val="1111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spc="-1" dirty="0">
                <a:solidFill>
                  <a:srgbClr val="1111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Tools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14399" y="4182631"/>
            <a:ext cx="10515239" cy="806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algn="just"/>
            <a:r>
              <a:rPr lang="en-US" b="0" strike="noStrike" spc="-1" dirty="0">
                <a:solidFill>
                  <a:srgbClr val="111111"/>
                </a:solidFill>
                <a:latin typeface="Arial"/>
              </a:rPr>
              <a:t>• Primary Data: Structured household questionnaire survey schedule.</a:t>
            </a:r>
            <a:endParaRPr lang="en-US" b="0" strike="noStrike" spc="-1" dirty="0">
              <a:solidFill>
                <a:srgbClr val="000000"/>
              </a:solidFill>
              <a:latin typeface="Arial"/>
            </a:endParaRPr>
          </a:p>
          <a:p>
            <a:pPr algn="just"/>
            <a:r>
              <a:rPr lang="en-US" b="0" strike="noStrike" spc="-1" dirty="0">
                <a:solidFill>
                  <a:srgbClr val="111111"/>
                </a:solidFill>
                <a:latin typeface="Arial"/>
              </a:rPr>
              <a:t>• Key Indicators: Socio-economic profile, causes, income pre/post, facilities.</a:t>
            </a:r>
            <a:endParaRPr lang="en-US" b="0" strike="noStrike" spc="-1" dirty="0">
              <a:solidFill>
                <a:srgbClr val="000000"/>
              </a:solidFill>
              <a:latin typeface="Arial"/>
            </a:endParaRPr>
          </a:p>
          <a:p>
            <a:pPr algn="just"/>
            <a:r>
              <a:rPr lang="en-US" b="0" strike="noStrike" spc="-1" dirty="0">
                <a:solidFill>
                  <a:srgbClr val="111111"/>
                </a:solidFill>
                <a:latin typeface="Arial"/>
              </a:rPr>
              <a:t>• Secondary Data: Ward records, Municipal reports, Census 2021.</a:t>
            </a:r>
            <a:endParaRPr lang="en-US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50600" y="5110169"/>
            <a:ext cx="3881690" cy="386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b="1" spc="-1" dirty="0">
                <a:solidFill>
                  <a:srgbClr val="1111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r>
              <a:rPr lang="en-US" b="1" strike="noStrike" spc="-1" dirty="0">
                <a:solidFill>
                  <a:srgbClr val="1111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spc="-1" dirty="0">
                <a:solidFill>
                  <a:srgbClr val="1111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Processing</a:t>
            </a:r>
            <a:r>
              <a:rPr lang="en-US" b="1" strike="noStrike" spc="-1" dirty="0">
                <a:solidFill>
                  <a:srgbClr val="1111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 </a:t>
            </a:r>
            <a:r>
              <a:rPr lang="en-US" b="1" spc="-1" dirty="0">
                <a:solidFill>
                  <a:srgbClr val="1111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Analysis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32880" y="5449301"/>
            <a:ext cx="10527000" cy="914398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algn="just"/>
            <a:r>
              <a:rPr lang="en-US" b="0" strike="noStrike" spc="-1" dirty="0">
                <a:solidFill>
                  <a:srgbClr val="111111"/>
                </a:solidFill>
                <a:latin typeface="Arial"/>
              </a:rPr>
              <a:t>• Software Tools: Microsoft Excel/SPSS for processing.</a:t>
            </a:r>
            <a:endParaRPr lang="en-US" b="0" strike="noStrike" spc="-1" dirty="0">
              <a:solidFill>
                <a:srgbClr val="000000"/>
              </a:solidFill>
              <a:latin typeface="Arial"/>
            </a:endParaRPr>
          </a:p>
          <a:p>
            <a:pPr algn="just"/>
            <a:r>
              <a:rPr lang="en-US" b="0" strike="noStrike" spc="-1" dirty="0">
                <a:solidFill>
                  <a:srgbClr val="111111"/>
                </a:solidFill>
                <a:latin typeface="Arial"/>
              </a:rPr>
              <a:t>• Analytical Methods: Tabulation, percentage distributions, classifications.</a:t>
            </a:r>
          </a:p>
          <a:p>
            <a:pPr algn="just"/>
            <a:r>
              <a:rPr lang="en-US" b="0" strike="noStrike" spc="-1" dirty="0">
                <a:solidFill>
                  <a:srgbClr val="111111"/>
                </a:solidFill>
                <a:latin typeface="Arial"/>
              </a:rPr>
              <a:t>• Comparative Approach: Pre-migration vs. Post-migration metrics.</a:t>
            </a:r>
            <a:endParaRPr lang="en-US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2"/>
          <p:cNvSpPr/>
          <p:nvPr/>
        </p:nvSpPr>
        <p:spPr>
          <a:xfrm>
            <a:off x="731520" y="640080"/>
            <a:ext cx="10698120" cy="4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strike="noStrike" spc="-1">
                <a:solidFill>
                  <a:srgbClr val="111111"/>
                </a:solidFill>
                <a:latin typeface="Georgia"/>
              </a:rPr>
              <a:t>5. Data Analysis and Presentation</a:t>
            </a:r>
            <a:endParaRPr lang="en-US" sz="2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Rectangle 3"/>
          <p:cNvSpPr/>
          <p:nvPr/>
        </p:nvSpPr>
        <p:spPr>
          <a:xfrm>
            <a:off x="731520" y="1371600"/>
            <a:ext cx="10728360" cy="18720"/>
          </a:xfrm>
          <a:prstGeom prst="rect">
            <a:avLst/>
          </a:prstGeom>
          <a:solidFill>
            <a:srgbClr val="000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" name="TextBox 8"/>
          <p:cNvSpPr/>
          <p:nvPr/>
        </p:nvSpPr>
        <p:spPr>
          <a:xfrm>
            <a:off x="1220880" y="3472128"/>
            <a:ext cx="4024861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b="1" strike="noStrike" spc="-1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Ethnic Composition of Households</a:t>
            </a:r>
            <a:endParaRPr lang="en-US" b="0" strike="noStrike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93" name="Table 9"/>
          <p:cNvGraphicFramePr/>
          <p:nvPr>
            <p:extLst>
              <p:ext uri="{D42A27DB-BD31-4B8C-83A1-F6EECF244321}">
                <p14:modId xmlns:p14="http://schemas.microsoft.com/office/powerpoint/2010/main" val="1116235724"/>
              </p:ext>
            </p:extLst>
          </p:nvPr>
        </p:nvGraphicFramePr>
        <p:xfrm>
          <a:off x="1186740" y="3932636"/>
          <a:ext cx="4482720" cy="22395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148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73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05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1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Ethnicity</a:t>
                      </a:r>
                      <a:endParaRPr lang="en-US" sz="1800" b="0" strike="noStrike" spc="-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1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Households</a:t>
                      </a:r>
                      <a:endParaRPr lang="en-US" sz="1800" b="0" strike="noStrike" spc="-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1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Percentage</a:t>
                      </a:r>
                      <a:endParaRPr lang="en-US" sz="1800" b="0" strike="noStrike" spc="-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872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Chhetri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36.0%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872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Brahmin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31.5%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872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Janajati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25.8%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764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Dalit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6.7%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6" name="TextBox 95"/>
          <p:cNvSpPr txBox="1"/>
          <p:nvPr/>
        </p:nvSpPr>
        <p:spPr>
          <a:xfrm>
            <a:off x="1186740" y="1430280"/>
            <a:ext cx="7361640" cy="17528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defPPr>
              <a:defRPr lang="en-US"/>
            </a:defPPr>
            <a:lvl1pPr>
              <a:lnSpc>
                <a:spcPct val="150000"/>
              </a:lnSpc>
              <a:defRPr b="1" strike="noStrike" spc="-1">
                <a:latin typeface="Arial" panose="020B0604020202020204" pitchFamily="34" charset="0"/>
                <a:ea typeface="Noto Sans CJK SC"/>
                <a:cs typeface="Arial" panose="020B0604020202020204" pitchFamily="34" charset="0"/>
              </a:defRPr>
            </a:lvl1pPr>
          </a:lstStyle>
          <a:p>
            <a:r>
              <a:rPr lang="en-US" b="0" dirty="0"/>
              <a:t>Total migrants: 345 people, 89 households</a:t>
            </a:r>
          </a:p>
          <a:p>
            <a:r>
              <a:rPr lang="en-US" b="0" dirty="0"/>
              <a:t>Sex ratio: 181 males and 164 females</a:t>
            </a:r>
          </a:p>
          <a:p>
            <a:r>
              <a:rPr lang="en-US" b="0" dirty="0"/>
              <a:t>Literacy rate: male 93.7%, female 66.9%</a:t>
            </a:r>
          </a:p>
          <a:p>
            <a:r>
              <a:rPr lang="en-US" b="0" dirty="0"/>
              <a:t>Family size: 3.88 persons per household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9CB41-6CDA-4D0D-0816-B35325DF6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2">
            <a:extLst>
              <a:ext uri="{FF2B5EF4-FFF2-40B4-BE49-F238E27FC236}">
                <a16:creationId xmlns:a16="http://schemas.microsoft.com/office/drawing/2014/main" id="{06799B14-DB83-18CC-2D90-6B2F446F1A51}"/>
              </a:ext>
            </a:extLst>
          </p:cNvPr>
          <p:cNvSpPr/>
          <p:nvPr/>
        </p:nvSpPr>
        <p:spPr>
          <a:xfrm>
            <a:off x="731520" y="640080"/>
            <a:ext cx="10698120" cy="4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strike="noStrike" spc="-1">
                <a:solidFill>
                  <a:srgbClr val="111111"/>
                </a:solidFill>
                <a:latin typeface="Georgia"/>
              </a:rPr>
              <a:t>5. Data Analysis and Presentation</a:t>
            </a:r>
            <a:endParaRPr lang="en-US" sz="2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Rectangle 3">
            <a:extLst>
              <a:ext uri="{FF2B5EF4-FFF2-40B4-BE49-F238E27FC236}">
                <a16:creationId xmlns:a16="http://schemas.microsoft.com/office/drawing/2014/main" id="{7B0D0C1E-56CC-48B2-8304-7BA0188C90FB}"/>
              </a:ext>
            </a:extLst>
          </p:cNvPr>
          <p:cNvSpPr/>
          <p:nvPr/>
        </p:nvSpPr>
        <p:spPr>
          <a:xfrm>
            <a:off x="731520" y="1371600"/>
            <a:ext cx="10728360" cy="18720"/>
          </a:xfrm>
          <a:prstGeom prst="rect">
            <a:avLst/>
          </a:prstGeom>
          <a:solidFill>
            <a:srgbClr val="000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" name="TextBox 8">
            <a:extLst>
              <a:ext uri="{FF2B5EF4-FFF2-40B4-BE49-F238E27FC236}">
                <a16:creationId xmlns:a16="http://schemas.microsoft.com/office/drawing/2014/main" id="{092E9296-D041-D75E-C727-D9A5460C8051}"/>
              </a:ext>
            </a:extLst>
          </p:cNvPr>
          <p:cNvSpPr/>
          <p:nvPr/>
        </p:nvSpPr>
        <p:spPr>
          <a:xfrm>
            <a:off x="869183" y="1914631"/>
            <a:ext cx="5062325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b="1" spc="-1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Size of Land Holdings by migrant household</a:t>
            </a:r>
            <a:endParaRPr lang="en-US" b="0" strike="noStrike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93" name="Table 9">
            <a:extLst>
              <a:ext uri="{FF2B5EF4-FFF2-40B4-BE49-F238E27FC236}">
                <a16:creationId xmlns:a16="http://schemas.microsoft.com/office/drawing/2014/main" id="{0BC5E51D-1717-5E7B-4436-E42B96CA75F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6153033"/>
              </p:ext>
            </p:extLst>
          </p:nvPr>
        </p:nvGraphicFramePr>
        <p:xfrm>
          <a:off x="945581" y="2445481"/>
          <a:ext cx="6269863" cy="27072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295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633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768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1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Size of land holdings</a:t>
                      </a:r>
                      <a:endParaRPr lang="en-US" sz="1800" b="0" strike="noStrike" spc="-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1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 of Households</a:t>
                      </a:r>
                      <a:endParaRPr lang="en-US" sz="1800" b="0" strike="noStrike" spc="-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800" b="1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Percentage</a:t>
                      </a:r>
                      <a:endParaRPr lang="en-US" sz="1800" b="0" strike="noStrike" spc="-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872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Ropani</a:t>
                      </a:r>
                      <a:endParaRPr lang="en-US" sz="1600" b="0" strike="noStrike" spc="-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17.9%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872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Aana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69.7%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872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Paisa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0%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764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0%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764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Others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12.4%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982074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75626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675FB-7F49-9D52-716E-27BA3BB0F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2">
            <a:extLst>
              <a:ext uri="{FF2B5EF4-FFF2-40B4-BE49-F238E27FC236}">
                <a16:creationId xmlns:a16="http://schemas.microsoft.com/office/drawing/2014/main" id="{DA3628A7-95C4-32CE-0D57-040BE62ADF09}"/>
              </a:ext>
            </a:extLst>
          </p:cNvPr>
          <p:cNvSpPr/>
          <p:nvPr/>
        </p:nvSpPr>
        <p:spPr>
          <a:xfrm>
            <a:off x="731520" y="640080"/>
            <a:ext cx="10698120" cy="4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strike="noStrike" spc="-1">
                <a:solidFill>
                  <a:srgbClr val="111111"/>
                </a:solidFill>
                <a:latin typeface="Georgia"/>
              </a:rPr>
              <a:t>5. Data Analysis and Presentation</a:t>
            </a:r>
            <a:endParaRPr lang="en-US" sz="2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Rectangle 3">
            <a:extLst>
              <a:ext uri="{FF2B5EF4-FFF2-40B4-BE49-F238E27FC236}">
                <a16:creationId xmlns:a16="http://schemas.microsoft.com/office/drawing/2014/main" id="{A664788C-4B6A-B060-0028-07E558DFE5C9}"/>
              </a:ext>
            </a:extLst>
          </p:cNvPr>
          <p:cNvSpPr/>
          <p:nvPr/>
        </p:nvSpPr>
        <p:spPr>
          <a:xfrm>
            <a:off x="731520" y="1371600"/>
            <a:ext cx="10728360" cy="18720"/>
          </a:xfrm>
          <a:prstGeom prst="rect">
            <a:avLst/>
          </a:prstGeom>
          <a:solidFill>
            <a:srgbClr val="000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" name="TextBox 10">
            <a:extLst>
              <a:ext uri="{FF2B5EF4-FFF2-40B4-BE49-F238E27FC236}">
                <a16:creationId xmlns:a16="http://schemas.microsoft.com/office/drawing/2014/main" id="{9BFEA63E-5D67-8D0F-58B5-59E133F2430C}"/>
              </a:ext>
            </a:extLst>
          </p:cNvPr>
          <p:cNvSpPr/>
          <p:nvPr/>
        </p:nvSpPr>
        <p:spPr>
          <a:xfrm>
            <a:off x="2795949" y="2050962"/>
            <a:ext cx="4012037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</a:pPr>
            <a:r>
              <a:rPr lang="en-US" b="1" strike="noStrike" spc="-1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 Structure &amp; Dependency Ratio</a:t>
            </a:r>
            <a:endParaRPr lang="en-US" b="0" strike="noStrike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95" name="Table 11">
            <a:extLst>
              <a:ext uri="{FF2B5EF4-FFF2-40B4-BE49-F238E27FC236}">
                <a16:creationId xmlns:a16="http://schemas.microsoft.com/office/drawing/2014/main" id="{F76C37E6-689B-9DF2-FDB8-74E25CB7D69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25423744"/>
              </p:ext>
            </p:extLst>
          </p:nvPr>
        </p:nvGraphicFramePr>
        <p:xfrm>
          <a:off x="2019711" y="2683440"/>
          <a:ext cx="5805218" cy="2208608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8135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062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53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640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Dependency Metric</a:t>
                      </a:r>
                      <a:endParaRPr lang="en-US" sz="1600" b="0" strike="noStrike" spc="-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Ratio Value</a:t>
                      </a:r>
                      <a:endParaRPr lang="en-US" sz="1600" b="0" strike="noStrike" spc="-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1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Interpretation</a:t>
                      </a:r>
                      <a:endParaRPr lang="en-US" sz="1600" b="0" strike="noStrike" spc="-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rgbClr val="11111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Child Dependency Ratio</a:t>
                      </a:r>
                      <a:endParaRPr lang="en-US" sz="1600" b="0" strike="noStrike" spc="-1" dirty="0">
                        <a:solidFill>
                          <a:srgbClr val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rgbClr val="11111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16.67</a:t>
                      </a:r>
                      <a:endParaRPr lang="en-US" sz="1600" b="0" strike="noStrike" spc="-1" dirty="0">
                        <a:solidFill>
                          <a:srgbClr val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rgbClr val="11111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0-14 Years</a:t>
                      </a:r>
                      <a:endParaRPr lang="en-US" sz="1600" b="0" strike="noStrike" spc="-1" dirty="0">
                        <a:solidFill>
                          <a:srgbClr val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3008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rgbClr val="11111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Old Age Dependency Ratio</a:t>
                      </a:r>
                      <a:endParaRPr lang="en-US" sz="1600" b="0" strike="noStrike" spc="-1" dirty="0">
                        <a:solidFill>
                          <a:srgbClr val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>
                          <a:solidFill>
                            <a:srgbClr val="11111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8.33</a:t>
                      </a:r>
                      <a:endParaRPr lang="en-US" sz="1600" b="0" strike="noStrike" spc="-1">
                        <a:solidFill>
                          <a:srgbClr val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>
                          <a:solidFill>
                            <a:srgbClr val="11111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65+ Years</a:t>
                      </a:r>
                      <a:endParaRPr lang="en-US" sz="1600" b="0" strike="noStrike" spc="-1">
                        <a:solidFill>
                          <a:srgbClr val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>
                          <a:solidFill>
                            <a:srgbClr val="11111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Total Age Dependency Ratio</a:t>
                      </a:r>
                      <a:endParaRPr lang="en-US" sz="1600" b="0" strike="noStrike" spc="-1">
                        <a:solidFill>
                          <a:srgbClr val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>
                          <a:solidFill>
                            <a:srgbClr val="11111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25.00</a:t>
                      </a:r>
                      <a:endParaRPr lang="en-US" sz="1600" b="0" strike="noStrike" spc="-1">
                        <a:solidFill>
                          <a:srgbClr val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>
                          <a:solidFill>
                            <a:srgbClr val="11111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Low burden</a:t>
                      </a:r>
                      <a:endParaRPr lang="en-US" sz="1600" b="0" strike="noStrike" spc="-1">
                        <a:solidFill>
                          <a:srgbClr val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6400"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>
                          <a:solidFill>
                            <a:srgbClr val="11111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Economically Active (15-64)</a:t>
                      </a:r>
                      <a:endParaRPr lang="en-US" sz="1600" b="0" strike="noStrike" spc="-1">
                        <a:solidFill>
                          <a:srgbClr val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rgbClr val="11111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74.8%</a:t>
                      </a:r>
                      <a:endParaRPr lang="en-US" sz="1600" b="0" strike="noStrike" spc="-1" dirty="0">
                        <a:solidFill>
                          <a:srgbClr val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rgbClr val="11111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High workforce</a:t>
                      </a:r>
                      <a:endParaRPr lang="en-US" sz="1600" b="0" strike="noStrike" spc="-1" dirty="0">
                        <a:solidFill>
                          <a:srgbClr val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513982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51F4D-C37D-D73F-E8DF-390553B16E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2">
            <a:extLst>
              <a:ext uri="{FF2B5EF4-FFF2-40B4-BE49-F238E27FC236}">
                <a16:creationId xmlns:a16="http://schemas.microsoft.com/office/drawing/2014/main" id="{6564B842-3950-D8FF-3F39-1AA7E2CC7C11}"/>
              </a:ext>
            </a:extLst>
          </p:cNvPr>
          <p:cNvSpPr/>
          <p:nvPr/>
        </p:nvSpPr>
        <p:spPr>
          <a:xfrm>
            <a:off x="731520" y="640080"/>
            <a:ext cx="10698120" cy="4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strike="noStrike" spc="-1">
                <a:solidFill>
                  <a:srgbClr val="111111"/>
                </a:solidFill>
                <a:latin typeface="Georgia"/>
              </a:rPr>
              <a:t>5. Data Analysis and Presentation</a:t>
            </a:r>
            <a:endParaRPr lang="en-US" sz="2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Rectangle 3">
            <a:extLst>
              <a:ext uri="{FF2B5EF4-FFF2-40B4-BE49-F238E27FC236}">
                <a16:creationId xmlns:a16="http://schemas.microsoft.com/office/drawing/2014/main" id="{A994B9B5-3C8B-DAAA-D218-10604CBAEA10}"/>
              </a:ext>
            </a:extLst>
          </p:cNvPr>
          <p:cNvSpPr/>
          <p:nvPr/>
        </p:nvSpPr>
        <p:spPr>
          <a:xfrm>
            <a:off x="731520" y="1371600"/>
            <a:ext cx="10728360" cy="18720"/>
          </a:xfrm>
          <a:prstGeom prst="rect">
            <a:avLst/>
          </a:prstGeom>
          <a:solidFill>
            <a:srgbClr val="000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62308CAB-FB1E-17D9-D0B7-50D32391C08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10329666"/>
              </p:ext>
            </p:extLst>
          </p:nvPr>
        </p:nvGraphicFramePr>
        <p:xfrm>
          <a:off x="3352257" y="2368897"/>
          <a:ext cx="4957729" cy="33399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10">
            <a:extLst>
              <a:ext uri="{FF2B5EF4-FFF2-40B4-BE49-F238E27FC236}">
                <a16:creationId xmlns:a16="http://schemas.microsoft.com/office/drawing/2014/main" id="{AB9106E8-C7C5-B772-8AB8-3AC09C2A3040}"/>
              </a:ext>
            </a:extLst>
          </p:cNvPr>
          <p:cNvSpPr/>
          <p:nvPr/>
        </p:nvSpPr>
        <p:spPr>
          <a:xfrm>
            <a:off x="3490969" y="1916310"/>
            <a:ext cx="4800049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b="1" strike="noStrike" spc="-1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Marital Status of Migrant population</a:t>
            </a:r>
            <a:endParaRPr lang="en-US" b="0" strike="noStrike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64249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B1F28-7651-7355-600E-E2D507E7B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Box 2">
            <a:extLst>
              <a:ext uri="{FF2B5EF4-FFF2-40B4-BE49-F238E27FC236}">
                <a16:creationId xmlns:a16="http://schemas.microsoft.com/office/drawing/2014/main" id="{79D6B287-CB5D-4759-4B68-493288C3816E}"/>
              </a:ext>
            </a:extLst>
          </p:cNvPr>
          <p:cNvSpPr/>
          <p:nvPr/>
        </p:nvSpPr>
        <p:spPr>
          <a:xfrm>
            <a:off x="731520" y="640080"/>
            <a:ext cx="10698120" cy="4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strike="noStrike" spc="-1">
                <a:solidFill>
                  <a:srgbClr val="111111"/>
                </a:solidFill>
                <a:latin typeface="Georgia"/>
              </a:rPr>
              <a:t>6. Causes of In-Migration</a:t>
            </a:r>
            <a:endParaRPr lang="en-US" sz="2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Rectangle 3">
            <a:extLst>
              <a:ext uri="{FF2B5EF4-FFF2-40B4-BE49-F238E27FC236}">
                <a16:creationId xmlns:a16="http://schemas.microsoft.com/office/drawing/2014/main" id="{656F3524-3566-4405-828D-E9D33485D3A5}"/>
              </a:ext>
            </a:extLst>
          </p:cNvPr>
          <p:cNvSpPr/>
          <p:nvPr/>
        </p:nvSpPr>
        <p:spPr>
          <a:xfrm>
            <a:off x="731520" y="1371600"/>
            <a:ext cx="10728360" cy="18720"/>
          </a:xfrm>
          <a:prstGeom prst="rect">
            <a:avLst/>
          </a:prstGeom>
          <a:solidFill>
            <a:srgbClr val="000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060C44F-4748-18FA-6322-DE7BB4057CF8}"/>
              </a:ext>
            </a:extLst>
          </p:cNvPr>
          <p:cNvSpPr txBox="1"/>
          <p:nvPr/>
        </p:nvSpPr>
        <p:spPr>
          <a:xfrm>
            <a:off x="3723375" y="1945297"/>
            <a:ext cx="4459238" cy="400993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algn="just"/>
            <a:r>
              <a:rPr lang="en-US" sz="1800" b="1" strike="noStrike" spc="-1" dirty="0">
                <a:solidFill>
                  <a:srgbClr val="1111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Place of Origin of migrants households</a:t>
            </a:r>
            <a:endParaRPr lang="en-US" sz="1800" b="0" strike="noStrike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1BDB52C1-602E-EA9B-7D5E-6631FA2D250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3239686"/>
              </p:ext>
            </p:extLst>
          </p:nvPr>
        </p:nvGraphicFramePr>
        <p:xfrm>
          <a:off x="3723374" y="2610890"/>
          <a:ext cx="5199561" cy="31079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857780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Box 2"/>
          <p:cNvSpPr/>
          <p:nvPr/>
        </p:nvSpPr>
        <p:spPr>
          <a:xfrm>
            <a:off x="731520" y="640080"/>
            <a:ext cx="10698120" cy="4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strike="noStrike" spc="-1">
                <a:solidFill>
                  <a:srgbClr val="111111"/>
                </a:solidFill>
                <a:latin typeface="Georgia"/>
              </a:rPr>
              <a:t>6. Causes of In-Migration</a:t>
            </a:r>
            <a:endParaRPr lang="en-US" sz="2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Rectangle 3"/>
          <p:cNvSpPr/>
          <p:nvPr/>
        </p:nvSpPr>
        <p:spPr>
          <a:xfrm>
            <a:off x="731520" y="1371600"/>
            <a:ext cx="10728360" cy="18720"/>
          </a:xfrm>
          <a:prstGeom prst="rect">
            <a:avLst/>
          </a:prstGeom>
          <a:solidFill>
            <a:srgbClr val="000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1167839" y="1565319"/>
            <a:ext cx="4459238" cy="2787424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algn="just"/>
            <a:r>
              <a:rPr lang="en-US" sz="1800" b="1" strike="noStrike" spc="-1" dirty="0">
                <a:solidFill>
                  <a:srgbClr val="1111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Primary Reasons for Leaving Origin</a:t>
            </a:r>
            <a:endParaRPr lang="en-US" sz="1800" b="0" strike="noStrike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en-US" strike="noStrike" spc="-1" dirty="0">
                <a:solidFill>
                  <a:srgbClr val="1111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Limited Infrastructure: 34.83%</a:t>
            </a:r>
            <a:endParaRPr lang="en-US" strike="noStrike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en-US" strike="noStrike" spc="-1" dirty="0">
                <a:solidFill>
                  <a:srgbClr val="1111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Limited Job Opportunities: 26.97%</a:t>
            </a:r>
            <a:endParaRPr lang="en-US" strike="noStrike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en-US" strike="noStrike" spc="-1" dirty="0">
                <a:solidFill>
                  <a:srgbClr val="1111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Limited Market Access: 20.22%</a:t>
            </a:r>
            <a:endParaRPr lang="en-US" strike="noStrike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en-US" strike="noStrike" spc="-1" dirty="0">
                <a:solidFill>
                  <a:srgbClr val="1111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Limited Arable Land: 7.87%</a:t>
            </a:r>
            <a:endParaRPr lang="en-US" strike="noStrike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en-US" strike="noStrike" spc="-1" dirty="0">
                <a:solidFill>
                  <a:srgbClr val="1111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Government Job Posting: 5.62%</a:t>
            </a:r>
            <a:endParaRPr lang="en-US" strike="noStrike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en-US" strike="noStrike" spc="-1" dirty="0">
                <a:solidFill>
                  <a:srgbClr val="1111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Victim of Conflict: 4.49%</a:t>
            </a:r>
          </a:p>
          <a:p>
            <a:pPr algn="just">
              <a:lnSpc>
                <a:spcPct val="150000"/>
              </a:lnSpc>
            </a:pPr>
            <a:endParaRPr lang="en-US" strike="noStrike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1202563" y="4549516"/>
            <a:ext cx="9865251" cy="20640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b="1" strike="noStrike" spc="-1" dirty="0">
                <a:solidFill>
                  <a:srgbClr val="1111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Origin &amp; Decision-Maker</a:t>
            </a:r>
            <a:endParaRPr lang="en-US" b="0" strike="noStrike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en-US" b="0" strike="noStrike" spc="-1" dirty="0">
                <a:solidFill>
                  <a:srgbClr val="1111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Decision Making Responsibility:</a:t>
            </a:r>
            <a:endParaRPr lang="en-US" b="0" strike="noStrike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en-US" b="0" strike="noStrike" spc="-1" dirty="0">
                <a:solidFill>
                  <a:srgbClr val="1111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- Near Relatives: 28.09% (25 HHs) — Key decision influencer.</a:t>
            </a:r>
            <a:endParaRPr lang="en-US" b="0" strike="noStrike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en-US" b="0" strike="noStrike" spc="-1" dirty="0">
                <a:solidFill>
                  <a:srgbClr val="1111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- Spouse / Children: 23.60% (21 HHs) — Family-mediated decisions.</a:t>
            </a:r>
            <a:endParaRPr lang="en-US" b="0" strike="noStrike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en-US" b="0" strike="noStrike" spc="-1" dirty="0">
                <a:solidFill>
                  <a:srgbClr val="1111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- Individual Self: 16.85% (15 HHs) | Friends: 16.85% (15 HHs).</a:t>
            </a:r>
          </a:p>
          <a:p>
            <a:pPr algn="just"/>
            <a:endParaRPr lang="en-US" sz="1600" b="0" strike="noStrike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Box 1"/>
          <p:cNvSpPr/>
          <p:nvPr/>
        </p:nvSpPr>
        <p:spPr>
          <a:xfrm>
            <a:off x="731520" y="365760"/>
            <a:ext cx="10698120" cy="2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strike="noStrike" spc="-1">
                <a:solidFill>
                  <a:srgbClr val="555555"/>
                </a:solidFill>
                <a:latin typeface="Arial"/>
              </a:rPr>
              <a:t>OUTCOMES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Box 2"/>
          <p:cNvSpPr/>
          <p:nvPr/>
        </p:nvSpPr>
        <p:spPr>
          <a:xfrm>
            <a:off x="731520" y="640080"/>
            <a:ext cx="10698120" cy="4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strike="noStrike" spc="-1">
                <a:solidFill>
                  <a:srgbClr val="111111"/>
                </a:solidFill>
                <a:latin typeface="Georgia"/>
              </a:rPr>
              <a:t>7. Consequences &amp; Comparative Analysis</a:t>
            </a:r>
            <a:endParaRPr lang="en-US" sz="2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Rectangle 3"/>
          <p:cNvSpPr/>
          <p:nvPr/>
        </p:nvSpPr>
        <p:spPr>
          <a:xfrm>
            <a:off x="731520" y="1371600"/>
            <a:ext cx="10728360" cy="18720"/>
          </a:xfrm>
          <a:prstGeom prst="rect">
            <a:avLst/>
          </a:prstGeom>
          <a:solidFill>
            <a:srgbClr val="000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" name="TextBox 4"/>
          <p:cNvSpPr/>
          <p:nvPr/>
        </p:nvSpPr>
        <p:spPr>
          <a:xfrm>
            <a:off x="731520" y="1679400"/>
            <a:ext cx="5719556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b="1" strike="noStrike" spc="-1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Monthly Income Shift (Previous vs </a:t>
            </a:r>
            <a:r>
              <a:rPr lang="en-US" b="1" spc="-1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After Migration</a:t>
            </a:r>
            <a:r>
              <a:rPr lang="en-US" b="1" strike="noStrike" spc="-1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b="0" strike="noStrike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05" name="Table 5"/>
          <p:cNvGraphicFramePr/>
          <p:nvPr>
            <p:extLst>
              <p:ext uri="{D42A27DB-BD31-4B8C-83A1-F6EECF244321}">
                <p14:modId xmlns:p14="http://schemas.microsoft.com/office/powerpoint/2010/main" val="2011569814"/>
              </p:ext>
            </p:extLst>
          </p:nvPr>
        </p:nvGraphicFramePr>
        <p:xfrm>
          <a:off x="731520" y="2047278"/>
          <a:ext cx="7618661" cy="1897288"/>
        </p:xfrm>
        <a:graphic>
          <a:graphicData uri="http://schemas.openxmlformats.org/drawingml/2006/table">
            <a:tbl>
              <a:tblPr/>
              <a:tblGrid>
                <a:gridCol w="2993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28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128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0502"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Income Bracket (Rs.)</a:t>
                      </a:r>
                      <a:endParaRPr lang="en-US" sz="1600" b="0" strike="noStrike" spc="-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strike="noStrike" spc="-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Origin (%)</a:t>
                      </a:r>
                      <a:endParaRPr lang="en-US" sz="1600" b="0" strike="noStrike" spc="-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strike="noStrike" spc="-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Destination (%)</a:t>
                      </a:r>
                      <a:endParaRPr lang="en-US" sz="1600" b="0" strike="noStrike" spc="-1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02"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Below 20,000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34.8%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12.4%  (↓ Decreased)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02"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20,000 - 39,999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55.1%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65.2%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5593"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40,000 and above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10.1%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22.5%  (↑ Doubled)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02"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Total Households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100.0%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100.0% (89 HHs)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4">
            <a:extLst>
              <a:ext uri="{FF2B5EF4-FFF2-40B4-BE49-F238E27FC236}">
                <a16:creationId xmlns:a16="http://schemas.microsoft.com/office/drawing/2014/main" id="{D2355FE9-6172-07BD-C07C-378455A466AE}"/>
              </a:ext>
            </a:extLst>
          </p:cNvPr>
          <p:cNvSpPr/>
          <p:nvPr/>
        </p:nvSpPr>
        <p:spPr>
          <a:xfrm>
            <a:off x="753292" y="4203208"/>
            <a:ext cx="4690428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b="1" strike="noStrike" spc="-1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Satisfaction at current place of residence</a:t>
            </a:r>
            <a:endParaRPr lang="en-US" b="0" strike="noStrike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5E9FFF6-E2EF-5E01-FD56-75526ADA12B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9842586"/>
              </p:ext>
            </p:extLst>
          </p:nvPr>
        </p:nvGraphicFramePr>
        <p:xfrm>
          <a:off x="753292" y="4596486"/>
          <a:ext cx="7618661" cy="1897288"/>
        </p:xfrm>
        <a:graphic>
          <a:graphicData uri="http://schemas.openxmlformats.org/drawingml/2006/table">
            <a:tbl>
              <a:tblPr/>
              <a:tblGrid>
                <a:gridCol w="2993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28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128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0502"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Satisfaction</a:t>
                      </a:r>
                      <a:endParaRPr lang="en-US" sz="1600" b="0" strike="noStrike" spc="-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 of Households</a:t>
                      </a:r>
                      <a:endParaRPr lang="en-US" sz="1600" b="0" strike="noStrike" spc="-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Percentage (%)</a:t>
                      </a:r>
                      <a:endParaRPr lang="en-US" sz="1600" b="0" strike="noStrike" spc="-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0502"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Yes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88.8%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0502"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9.0%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5593"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Same as before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0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2.2%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0502"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Total Households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600" b="1" strike="noStrike" spc="-1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100.0%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15563-8319-E6FD-B2C5-F3B11AC11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Box 1">
            <a:extLst>
              <a:ext uri="{FF2B5EF4-FFF2-40B4-BE49-F238E27FC236}">
                <a16:creationId xmlns:a16="http://schemas.microsoft.com/office/drawing/2014/main" id="{A655D5CA-DAAF-C459-64C6-1808BA9080C4}"/>
              </a:ext>
            </a:extLst>
          </p:cNvPr>
          <p:cNvSpPr/>
          <p:nvPr/>
        </p:nvSpPr>
        <p:spPr>
          <a:xfrm>
            <a:off x="731520" y="365760"/>
            <a:ext cx="10698120" cy="2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strike="noStrike" spc="-1">
                <a:solidFill>
                  <a:srgbClr val="555555"/>
                </a:solidFill>
                <a:latin typeface="Arial"/>
              </a:rPr>
              <a:t>OUTCOMES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Box 2">
            <a:extLst>
              <a:ext uri="{FF2B5EF4-FFF2-40B4-BE49-F238E27FC236}">
                <a16:creationId xmlns:a16="http://schemas.microsoft.com/office/drawing/2014/main" id="{9A6433EB-E612-22F2-3DCE-00CF05ECA3C8}"/>
              </a:ext>
            </a:extLst>
          </p:cNvPr>
          <p:cNvSpPr/>
          <p:nvPr/>
        </p:nvSpPr>
        <p:spPr>
          <a:xfrm>
            <a:off x="731520" y="640080"/>
            <a:ext cx="10698120" cy="4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strike="noStrike" spc="-1">
                <a:solidFill>
                  <a:srgbClr val="111111"/>
                </a:solidFill>
                <a:latin typeface="Georgia"/>
              </a:rPr>
              <a:t>7. Consequences &amp; Comparative Analysis</a:t>
            </a:r>
            <a:endParaRPr lang="en-US" sz="2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Rectangle 3">
            <a:extLst>
              <a:ext uri="{FF2B5EF4-FFF2-40B4-BE49-F238E27FC236}">
                <a16:creationId xmlns:a16="http://schemas.microsoft.com/office/drawing/2014/main" id="{F17DFE74-99AC-9DDA-01F0-B77DDD4F9CBE}"/>
              </a:ext>
            </a:extLst>
          </p:cNvPr>
          <p:cNvSpPr/>
          <p:nvPr/>
        </p:nvSpPr>
        <p:spPr>
          <a:xfrm>
            <a:off x="731520" y="1371600"/>
            <a:ext cx="10728360" cy="18720"/>
          </a:xfrm>
          <a:prstGeom prst="rect">
            <a:avLst/>
          </a:prstGeom>
          <a:solidFill>
            <a:srgbClr val="000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" name="TextBox 4">
            <a:extLst>
              <a:ext uri="{FF2B5EF4-FFF2-40B4-BE49-F238E27FC236}">
                <a16:creationId xmlns:a16="http://schemas.microsoft.com/office/drawing/2014/main" id="{F103594D-915E-4920-9190-60B338CAD5AB}"/>
              </a:ext>
            </a:extLst>
          </p:cNvPr>
          <p:cNvSpPr/>
          <p:nvPr/>
        </p:nvSpPr>
        <p:spPr>
          <a:xfrm>
            <a:off x="2118186" y="1679400"/>
            <a:ext cx="7718052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b="1" strike="noStrike" spc="-1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Distribution of Migrant Households by Changes in Selected Aspects)</a:t>
            </a:r>
            <a:endParaRPr lang="en-US" b="0" strike="noStrike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18DB64DD-0F49-973E-42DB-EEA809D4805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69347554"/>
              </p:ext>
            </p:extLst>
          </p:nvPr>
        </p:nvGraphicFramePr>
        <p:xfrm>
          <a:off x="2160395" y="2095830"/>
          <a:ext cx="7707086" cy="39459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7072222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4D805-AF4E-1EAB-63BD-C20BAF8D3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Box 1">
            <a:extLst>
              <a:ext uri="{FF2B5EF4-FFF2-40B4-BE49-F238E27FC236}">
                <a16:creationId xmlns:a16="http://schemas.microsoft.com/office/drawing/2014/main" id="{4963A2E5-4ADC-430D-EC89-01474330B017}"/>
              </a:ext>
            </a:extLst>
          </p:cNvPr>
          <p:cNvSpPr/>
          <p:nvPr/>
        </p:nvSpPr>
        <p:spPr>
          <a:xfrm>
            <a:off x="731520" y="365760"/>
            <a:ext cx="10698120" cy="2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strike="noStrike" spc="-1">
                <a:solidFill>
                  <a:srgbClr val="555555"/>
                </a:solidFill>
                <a:latin typeface="Arial"/>
              </a:rPr>
              <a:t>OUTCOMES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Box 2">
            <a:extLst>
              <a:ext uri="{FF2B5EF4-FFF2-40B4-BE49-F238E27FC236}">
                <a16:creationId xmlns:a16="http://schemas.microsoft.com/office/drawing/2014/main" id="{1631B284-D948-EC3D-B044-FB6D2135B2DC}"/>
              </a:ext>
            </a:extLst>
          </p:cNvPr>
          <p:cNvSpPr/>
          <p:nvPr/>
        </p:nvSpPr>
        <p:spPr>
          <a:xfrm>
            <a:off x="731520" y="640080"/>
            <a:ext cx="10698120" cy="4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strike="noStrike" spc="-1">
                <a:solidFill>
                  <a:srgbClr val="111111"/>
                </a:solidFill>
                <a:latin typeface="Georgia"/>
              </a:rPr>
              <a:t>7. Consequences &amp; Comparative Analysis</a:t>
            </a:r>
            <a:endParaRPr lang="en-US" sz="2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Rectangle 3">
            <a:extLst>
              <a:ext uri="{FF2B5EF4-FFF2-40B4-BE49-F238E27FC236}">
                <a16:creationId xmlns:a16="http://schemas.microsoft.com/office/drawing/2014/main" id="{B05F2B86-1084-4741-E967-FFAF7993C369}"/>
              </a:ext>
            </a:extLst>
          </p:cNvPr>
          <p:cNvSpPr/>
          <p:nvPr/>
        </p:nvSpPr>
        <p:spPr>
          <a:xfrm>
            <a:off x="731520" y="1371600"/>
            <a:ext cx="10728360" cy="18720"/>
          </a:xfrm>
          <a:prstGeom prst="rect">
            <a:avLst/>
          </a:prstGeom>
          <a:solidFill>
            <a:srgbClr val="000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1C7D8F99-67AC-F48F-D715-57AF47353C14}"/>
              </a:ext>
            </a:extLst>
          </p:cNvPr>
          <p:cNvSpPr txBox="1"/>
          <p:nvPr/>
        </p:nvSpPr>
        <p:spPr>
          <a:xfrm>
            <a:off x="711423" y="1797800"/>
            <a:ext cx="10492489" cy="4401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800" b="1" strike="noStrike" spc="-1" dirty="0">
                <a:latin typeface="Arial" panose="020B0604020202020204" pitchFamily="34" charset="0"/>
                <a:cs typeface="Arial" panose="020B0604020202020204" pitchFamily="34" charset="0"/>
              </a:rPr>
              <a:t>Challenges &amp; Problems at Destination</a:t>
            </a:r>
          </a:p>
          <a:p>
            <a:endParaRPr lang="en-US" sz="1800" b="0" strike="noStrike" spc="-1" dirty="0">
              <a:latin typeface="Arial"/>
            </a:endParaRPr>
          </a:p>
          <a:p>
            <a:r>
              <a:rPr lang="en-US" sz="1600" b="1" strike="noStrike" spc="-1" dirty="0">
                <a:latin typeface="Arial"/>
              </a:rPr>
              <a:t>• Inadequate Development Funding: 39.3%</a:t>
            </a:r>
            <a:endParaRPr lang="en-US" sz="1600" b="0" strike="noStrike" spc="-1" dirty="0">
              <a:latin typeface="Arial"/>
            </a:endParaRPr>
          </a:p>
          <a:p>
            <a:r>
              <a:rPr lang="en-US" sz="1600" b="0" strike="noStrike" spc="-1" dirty="0">
                <a:latin typeface="Arial"/>
              </a:rPr>
              <a:t>   (35 HHs (Major infrastructure gap))</a:t>
            </a:r>
          </a:p>
          <a:p>
            <a:endParaRPr lang="en-US" sz="1600" b="0" strike="noStrike" spc="-1" dirty="0">
              <a:latin typeface="Arial"/>
            </a:endParaRPr>
          </a:p>
          <a:p>
            <a:r>
              <a:rPr lang="en-US" sz="1600" b="1" strike="noStrike" spc="-1" dirty="0">
                <a:latin typeface="Arial"/>
              </a:rPr>
              <a:t>• Insufficient Health Facilities: 19.1%</a:t>
            </a:r>
            <a:endParaRPr lang="en-US" sz="1600" b="0" strike="noStrike" spc="-1" dirty="0">
              <a:latin typeface="Arial"/>
            </a:endParaRPr>
          </a:p>
          <a:p>
            <a:r>
              <a:rPr lang="en-US" sz="1600" b="0" strike="noStrike" spc="-1" dirty="0">
                <a:latin typeface="Arial"/>
              </a:rPr>
              <a:t>   (17 HHs)</a:t>
            </a:r>
          </a:p>
          <a:p>
            <a:endParaRPr lang="en-US" sz="1600" b="0" strike="noStrike" spc="-1" dirty="0">
              <a:latin typeface="Arial"/>
            </a:endParaRPr>
          </a:p>
          <a:p>
            <a:r>
              <a:rPr lang="en-US" sz="1600" b="1" strike="noStrike" spc="-1" dirty="0">
                <a:latin typeface="Arial"/>
              </a:rPr>
              <a:t>• Bad Social Environment: 18.0%</a:t>
            </a:r>
            <a:endParaRPr lang="en-US" sz="1600" b="0" strike="noStrike" spc="-1" dirty="0">
              <a:latin typeface="Arial"/>
            </a:endParaRPr>
          </a:p>
          <a:p>
            <a:r>
              <a:rPr lang="en-US" sz="1600" b="0" strike="noStrike" spc="-1" dirty="0">
                <a:latin typeface="Arial"/>
              </a:rPr>
              <a:t>   (16 HHs)</a:t>
            </a:r>
          </a:p>
          <a:p>
            <a:endParaRPr lang="en-US" sz="1600" b="0" strike="noStrike" spc="-1" dirty="0">
              <a:latin typeface="Arial"/>
            </a:endParaRPr>
          </a:p>
          <a:p>
            <a:r>
              <a:rPr lang="en-US" sz="1600" b="1" strike="noStrike" spc="-1" dirty="0">
                <a:latin typeface="Arial"/>
              </a:rPr>
              <a:t>• Lack of Employment Opportunities: 15.7%</a:t>
            </a:r>
            <a:endParaRPr lang="en-US" sz="1600" b="0" strike="noStrike" spc="-1" dirty="0">
              <a:latin typeface="Arial"/>
            </a:endParaRPr>
          </a:p>
          <a:p>
            <a:r>
              <a:rPr lang="en-US" sz="1600" b="0" strike="noStrike" spc="-1" dirty="0">
                <a:latin typeface="Arial"/>
              </a:rPr>
              <a:t>   (14 HHs)</a:t>
            </a:r>
          </a:p>
          <a:p>
            <a:endParaRPr lang="en-US" sz="1600" b="0" strike="noStrike" spc="-1" dirty="0">
              <a:latin typeface="Arial"/>
            </a:endParaRPr>
          </a:p>
          <a:p>
            <a:r>
              <a:rPr lang="en-US" sz="1600" b="1" strike="noStrike" spc="-1" dirty="0">
                <a:latin typeface="Arial"/>
              </a:rPr>
              <a:t>• Inadequate Drinking Water Supply: 7.9%</a:t>
            </a:r>
            <a:endParaRPr lang="en-US" sz="1600" b="0" strike="noStrike" spc="-1" dirty="0">
              <a:latin typeface="Arial"/>
            </a:endParaRPr>
          </a:p>
          <a:p>
            <a:r>
              <a:rPr lang="en-US" sz="1600" b="0" strike="noStrike" spc="-1" dirty="0">
                <a:latin typeface="Arial"/>
              </a:rPr>
              <a:t>   (7 HHs)</a:t>
            </a:r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99D6CBC2-B960-6954-A6BB-87A1C375E77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63621084"/>
              </p:ext>
            </p:extLst>
          </p:nvPr>
        </p:nvGraphicFramePr>
        <p:xfrm>
          <a:off x="5375869" y="1797800"/>
          <a:ext cx="5828044" cy="4401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4411299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extBox 1"/>
          <p:cNvSpPr/>
          <p:nvPr/>
        </p:nvSpPr>
        <p:spPr>
          <a:xfrm>
            <a:off x="731520" y="365760"/>
            <a:ext cx="10698120" cy="2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strike="noStrike" spc="-1">
                <a:solidFill>
                  <a:srgbClr val="555555"/>
                </a:solidFill>
                <a:latin typeface="Arial"/>
              </a:rPr>
              <a:t>SUMMARY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Box 2"/>
          <p:cNvSpPr/>
          <p:nvPr/>
        </p:nvSpPr>
        <p:spPr>
          <a:xfrm>
            <a:off x="731520" y="640080"/>
            <a:ext cx="10698120" cy="4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strike="noStrike" spc="-1">
                <a:solidFill>
                  <a:srgbClr val="111111"/>
                </a:solidFill>
                <a:latin typeface="Georgia"/>
              </a:rPr>
              <a:t>9. Conclusion &amp; Recommendations</a:t>
            </a:r>
            <a:endParaRPr lang="en-US" sz="2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Rectangle 3"/>
          <p:cNvSpPr/>
          <p:nvPr/>
        </p:nvSpPr>
        <p:spPr>
          <a:xfrm>
            <a:off x="731520" y="1371600"/>
            <a:ext cx="10728360" cy="18720"/>
          </a:xfrm>
          <a:prstGeom prst="rect">
            <a:avLst/>
          </a:prstGeom>
          <a:solidFill>
            <a:srgbClr val="000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699040" y="1782960"/>
            <a:ext cx="10391400" cy="3292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800" b="1" strike="noStrike" spc="-1" dirty="0">
                <a:solidFill>
                  <a:srgbClr val="1111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Main Conclusions</a:t>
            </a:r>
            <a:endParaRPr lang="en-US" sz="1800" b="0" strike="noStrike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61950" indent="-361950">
              <a:lnSpc>
                <a:spcPct val="150000"/>
              </a:lnSpc>
            </a:pPr>
            <a:r>
              <a:rPr lang="en-US" sz="1600" b="0" strike="noStrike" spc="-1" dirty="0">
                <a:solidFill>
                  <a:srgbClr val="1111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In-migration in </a:t>
            </a:r>
            <a:r>
              <a:rPr lang="en-US" sz="1600" b="0" strike="noStrike" spc="-1" dirty="0" err="1">
                <a:solidFill>
                  <a:srgbClr val="1111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Shankharapur</a:t>
            </a:r>
            <a:r>
              <a:rPr lang="en-US" sz="1600" b="0" strike="noStrike" spc="-1" dirty="0">
                <a:solidFill>
                  <a:srgbClr val="1111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Ward 9 is primarily driven by economic and infrastructural push factors (lack of roads, jobs, and market access at origin).</a:t>
            </a:r>
            <a:endParaRPr lang="en-US" sz="1600" b="0" strike="noStrike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b="0" strike="noStrike" spc="-1" dirty="0">
                <a:solidFill>
                  <a:srgbClr val="1111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Migration is long-distance and family-mediated, with relatives playing a major role in destination choice.</a:t>
            </a:r>
            <a:endParaRPr lang="en-US" sz="1600" b="0" strike="noStrike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8775" indent="-358775">
              <a:lnSpc>
                <a:spcPct val="150000"/>
              </a:lnSpc>
            </a:pPr>
            <a:r>
              <a:rPr lang="en-US" sz="1600" b="0" strike="noStrike" spc="-1" dirty="0">
                <a:solidFill>
                  <a:srgbClr val="1111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Migration outcomes are overall favorable: household incomes increased significantly, education access improved, and 88.8% report satisfaction.</a:t>
            </a:r>
            <a:endParaRPr lang="en-US" sz="1600" b="0" strike="noStrike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600" b="0" strike="noStrike" spc="-1" dirty="0">
                <a:solidFill>
                  <a:srgbClr val="1111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However, local infrastructure (development funding, health facilities) is struggling to keep pace with rapid inflow.</a:t>
            </a:r>
            <a:endParaRPr lang="en-US" sz="1600" b="0" strike="noStrike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24599-B95A-063E-8125-F7FB152A2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extBox 1">
            <a:extLst>
              <a:ext uri="{FF2B5EF4-FFF2-40B4-BE49-F238E27FC236}">
                <a16:creationId xmlns:a16="http://schemas.microsoft.com/office/drawing/2014/main" id="{6169D31C-4EA5-3B3A-CC4C-920CD8839AA8}"/>
              </a:ext>
            </a:extLst>
          </p:cNvPr>
          <p:cNvSpPr/>
          <p:nvPr/>
        </p:nvSpPr>
        <p:spPr>
          <a:xfrm>
            <a:off x="731520" y="365760"/>
            <a:ext cx="10698120" cy="242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1000" b="1" strike="noStrike" spc="-1">
                <a:solidFill>
                  <a:srgbClr val="555555"/>
                </a:solidFill>
                <a:latin typeface="Arial"/>
              </a:rPr>
              <a:t>SUMMARY</a:t>
            </a:r>
            <a:endParaRPr lang="en-US" sz="1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Box 2">
            <a:extLst>
              <a:ext uri="{FF2B5EF4-FFF2-40B4-BE49-F238E27FC236}">
                <a16:creationId xmlns:a16="http://schemas.microsoft.com/office/drawing/2014/main" id="{630CD4DC-C333-C3CA-4C60-0D6323D80353}"/>
              </a:ext>
            </a:extLst>
          </p:cNvPr>
          <p:cNvSpPr/>
          <p:nvPr/>
        </p:nvSpPr>
        <p:spPr>
          <a:xfrm>
            <a:off x="731520" y="640080"/>
            <a:ext cx="10698120" cy="48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en-US" sz="2600" b="1" strike="noStrike" spc="-1">
                <a:solidFill>
                  <a:srgbClr val="111111"/>
                </a:solidFill>
                <a:latin typeface="Georgia"/>
              </a:rPr>
              <a:t>9. Conclusion &amp; Recommendations</a:t>
            </a:r>
            <a:endParaRPr lang="en-US" sz="2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Rectangle 3">
            <a:extLst>
              <a:ext uri="{FF2B5EF4-FFF2-40B4-BE49-F238E27FC236}">
                <a16:creationId xmlns:a16="http://schemas.microsoft.com/office/drawing/2014/main" id="{A1400A03-7458-6E5A-4396-9112D55350FC}"/>
              </a:ext>
            </a:extLst>
          </p:cNvPr>
          <p:cNvSpPr/>
          <p:nvPr/>
        </p:nvSpPr>
        <p:spPr>
          <a:xfrm>
            <a:off x="731520" y="1371600"/>
            <a:ext cx="10728360" cy="18720"/>
          </a:xfrm>
          <a:prstGeom prst="rect">
            <a:avLst/>
          </a:prstGeom>
          <a:solidFill>
            <a:srgbClr val="000000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5920" rIns="90000" bIns="-25920" anchor="ctr">
            <a:noAutofit/>
          </a:bodyPr>
          <a:lstStyle/>
          <a:p>
            <a:pPr algn="ctr" defTabSz="457200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4B422F21-AC7F-256B-2917-32BA3C1AF9DD}"/>
              </a:ext>
            </a:extLst>
          </p:cNvPr>
          <p:cNvSpPr txBox="1"/>
          <p:nvPr/>
        </p:nvSpPr>
        <p:spPr>
          <a:xfrm>
            <a:off x="869793" y="1781131"/>
            <a:ext cx="10391400" cy="48787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algn="just"/>
            <a:r>
              <a:rPr lang="en-US" sz="1800" b="1" strike="noStrike" spc="-1" dirty="0">
                <a:solidFill>
                  <a:srgbClr val="11111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Recommendations</a:t>
            </a:r>
          </a:p>
          <a:p>
            <a:pPr algn="just"/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  <a:p>
            <a:pPr marL="180975" indent="-180975" algn="just"/>
            <a:r>
              <a:rPr lang="en-US" sz="1600" b="0" strike="noStrike" spc="-1" dirty="0">
                <a:solidFill>
                  <a:srgbClr val="111111"/>
                </a:solidFill>
                <a:latin typeface="Arial"/>
              </a:rPr>
              <a:t>• </a:t>
            </a:r>
            <a:r>
              <a:rPr lang="en-US" sz="1600" b="0" u="sng" strike="noStrike" spc="-1" dirty="0">
                <a:solidFill>
                  <a:srgbClr val="111111"/>
                </a:solidFill>
                <a:latin typeface="Arial"/>
              </a:rPr>
              <a:t>Strengthen Infrastructure Funding: </a:t>
            </a:r>
          </a:p>
          <a:p>
            <a:pPr marL="180975" indent="-180975" algn="just"/>
            <a:r>
              <a:rPr lang="en-US" sz="1600" b="0" u="sng" strike="noStrike" spc="-1" dirty="0">
                <a:solidFill>
                  <a:srgbClr val="111111"/>
                </a:solidFill>
                <a:latin typeface="Arial"/>
              </a:rPr>
              <a:t> </a:t>
            </a:r>
            <a:r>
              <a:rPr lang="en-US" sz="1600" b="0" strike="noStrike" spc="-1" dirty="0">
                <a:solidFill>
                  <a:srgbClr val="111111"/>
                </a:solidFill>
                <a:latin typeface="Arial"/>
              </a:rPr>
              <a:t>Allocate higher development budgets to Ward 9 to upgrade roads and basic utilities.</a:t>
            </a:r>
          </a:p>
          <a:p>
            <a:pPr marL="180975" indent="-180975" algn="just"/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  <a:p>
            <a:pPr algn="just"/>
            <a:r>
              <a:rPr lang="en-US" sz="1600" b="0" strike="noStrike" spc="-1" dirty="0">
                <a:solidFill>
                  <a:srgbClr val="111111"/>
                </a:solidFill>
                <a:latin typeface="Arial"/>
              </a:rPr>
              <a:t>• </a:t>
            </a:r>
            <a:r>
              <a:rPr lang="en-US" sz="1600" b="0" u="sng" strike="noStrike" spc="-1" dirty="0">
                <a:solidFill>
                  <a:srgbClr val="111111"/>
                </a:solidFill>
                <a:latin typeface="Arial"/>
              </a:rPr>
              <a:t>Expand Healthcare Facilities: </a:t>
            </a:r>
          </a:p>
          <a:p>
            <a:pPr algn="just"/>
            <a:r>
              <a:rPr lang="en-US" sz="1600" b="0" u="sng" strike="noStrike" spc="-1" dirty="0">
                <a:solidFill>
                  <a:srgbClr val="111111"/>
                </a:solidFill>
                <a:latin typeface="Arial"/>
              </a:rPr>
              <a:t> </a:t>
            </a:r>
            <a:r>
              <a:rPr lang="en-US" sz="1600" b="0" strike="noStrike" spc="-1" dirty="0">
                <a:solidFill>
                  <a:srgbClr val="111111"/>
                </a:solidFill>
                <a:latin typeface="Arial"/>
              </a:rPr>
              <a:t>Address the 19.1% health facility deficit by enhancing local primary health posts.</a:t>
            </a:r>
          </a:p>
          <a:p>
            <a:pPr algn="just"/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  <a:p>
            <a:pPr marL="180975" indent="-180975" algn="just"/>
            <a:r>
              <a:rPr lang="en-US" sz="1600" b="0" strike="noStrike" spc="-1" dirty="0">
                <a:solidFill>
                  <a:srgbClr val="111111"/>
                </a:solidFill>
                <a:latin typeface="Arial"/>
              </a:rPr>
              <a:t>• </a:t>
            </a:r>
            <a:r>
              <a:rPr lang="en-US" sz="1600" b="0" u="sng" strike="noStrike" spc="-1" dirty="0">
                <a:solidFill>
                  <a:srgbClr val="111111"/>
                </a:solidFill>
                <a:latin typeface="Arial"/>
              </a:rPr>
              <a:t>Promote Local Job Creation: </a:t>
            </a:r>
            <a:endParaRPr lang="en-US" sz="1600" u="sng" spc="-1" dirty="0">
              <a:solidFill>
                <a:srgbClr val="111111"/>
              </a:solidFill>
              <a:latin typeface="Arial"/>
            </a:endParaRPr>
          </a:p>
          <a:p>
            <a:pPr marL="180975" indent="-180975" algn="just"/>
            <a:r>
              <a:rPr lang="en-US" sz="1600" b="0" strike="noStrike" spc="-1" dirty="0">
                <a:solidFill>
                  <a:srgbClr val="111111"/>
                </a:solidFill>
                <a:latin typeface="Arial"/>
              </a:rPr>
              <a:t>Develop local enterprise and vocational training to create municipal employment opportunities.</a:t>
            </a:r>
          </a:p>
          <a:p>
            <a:pPr marL="180975" indent="-180975" algn="just"/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  <a:p>
            <a:pPr marL="180975" indent="-180975" algn="just"/>
            <a:r>
              <a:rPr lang="en-US" sz="1600" b="0" strike="noStrike" spc="-1" dirty="0">
                <a:solidFill>
                  <a:srgbClr val="111111"/>
                </a:solidFill>
                <a:latin typeface="Arial"/>
              </a:rPr>
              <a:t>• </a:t>
            </a:r>
            <a:r>
              <a:rPr lang="en-US" sz="1600" b="0" u="sng" strike="noStrike" spc="-1" dirty="0">
                <a:solidFill>
                  <a:srgbClr val="111111"/>
                </a:solidFill>
                <a:latin typeface="Arial"/>
              </a:rPr>
              <a:t>Targeted Female Literacy: </a:t>
            </a:r>
          </a:p>
          <a:p>
            <a:pPr marL="180975" indent="-180975" algn="just"/>
            <a:r>
              <a:rPr lang="en-US" sz="1600" b="0" strike="noStrike" spc="-1" dirty="0">
                <a:solidFill>
                  <a:srgbClr val="111111"/>
                </a:solidFill>
                <a:latin typeface="Arial"/>
              </a:rPr>
              <a:t>Conduct adult education programs to address the gender literacy gap (Female 66.9% vs Male 93.7%).</a:t>
            </a:r>
          </a:p>
          <a:p>
            <a:pPr marL="180975" indent="-180975" algn="just"/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  <a:p>
            <a:pPr marL="180975" indent="-180975" algn="just"/>
            <a:r>
              <a:rPr lang="en-US" sz="1600" b="0" strike="noStrike" spc="-1" dirty="0">
                <a:solidFill>
                  <a:srgbClr val="111111"/>
                </a:solidFill>
                <a:latin typeface="Arial"/>
              </a:rPr>
              <a:t>• </a:t>
            </a:r>
            <a:r>
              <a:rPr lang="en-US" sz="1600" b="0" u="sng" strike="noStrike" spc="-1" dirty="0">
                <a:solidFill>
                  <a:srgbClr val="111111"/>
                </a:solidFill>
                <a:latin typeface="Arial"/>
              </a:rPr>
              <a:t>Municipal Administrative Recordkeeping: </a:t>
            </a:r>
          </a:p>
          <a:p>
            <a:pPr marL="180975" indent="-180975" algn="just"/>
            <a:r>
              <a:rPr lang="en-US" sz="1600" b="0" strike="noStrike" spc="-1" dirty="0">
                <a:solidFill>
                  <a:srgbClr val="111111"/>
                </a:solidFill>
                <a:latin typeface="Arial"/>
              </a:rPr>
              <a:t>Formally clarify and record land-ownership criteria required for migrant status certification.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258302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756B4F5-EA6F-F64A-5DFE-5A4379BF7992}"/>
              </a:ext>
            </a:extLst>
          </p:cNvPr>
          <p:cNvSpPr txBox="1"/>
          <p:nvPr/>
        </p:nvSpPr>
        <p:spPr>
          <a:xfrm>
            <a:off x="900300" y="2527161"/>
            <a:ext cx="10391400" cy="1823776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algn="ctr"/>
            <a:r>
              <a:rPr lang="en-US" sz="3600" b="1" strike="noStrike" spc="-1" dirty="0">
                <a:solidFill>
                  <a:srgbClr val="111111"/>
                </a:solidFill>
                <a:latin typeface="Georgia"/>
              </a:rPr>
              <a:t>Thank you!</a:t>
            </a:r>
            <a:endParaRPr lang="en-US" sz="1600" b="0" strike="noStrike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199</TotalTime>
  <Words>1180</Words>
  <Application>Microsoft Office PowerPoint</Application>
  <PresentationFormat>Widescreen</PresentationFormat>
  <Paragraphs>212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11</vt:i4>
      </vt:variant>
      <vt:variant>
        <vt:lpstr>Slide Titles</vt:lpstr>
      </vt:variant>
      <vt:variant>
        <vt:i4>17</vt:i4>
      </vt:variant>
    </vt:vector>
  </HeadingPairs>
  <TitlesOfParts>
    <vt:vector size="34" baseType="lpstr">
      <vt:lpstr>Arial</vt:lpstr>
      <vt:lpstr>Calibri</vt:lpstr>
      <vt:lpstr>Georgia</vt:lpstr>
      <vt:lpstr>Symbol</vt:lpstr>
      <vt:lpstr>Times New Roman</vt:lpstr>
      <vt:lpstr>Wingdings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>generated using python-pptx</dc:description>
  <cp:lastModifiedBy>rabina baga</cp:lastModifiedBy>
  <cp:revision>45</cp:revision>
  <cp:lastPrinted>2026-10-08T21:33:23Z</cp:lastPrinted>
  <dcterms:created xsi:type="dcterms:W3CDTF">2013-01-27T09:14:16Z</dcterms:created>
  <dcterms:modified xsi:type="dcterms:W3CDTF">2026-10-09T00:59:53Z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