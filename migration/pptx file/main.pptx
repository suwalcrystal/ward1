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8" r:id="rId18"/>
    <p:sldId id="270" r:id="rId19"/>
    <p:sldId id="267" r:id="rId20"/>
    <p:sldId id="271" r:id="rId21"/>
    <p:sldId id="262" r:id="rId22"/>
    <p:sldId id="263" r:id="rId23"/>
    <p:sldId id="272" r:id="rId24"/>
    <p:sldId id="266" r:id="rId25"/>
    <p:sldId id="264" r:id="rId26"/>
    <p:sldId id="269" r:id="rId27"/>
    <p:sldId id="265" r:id="rId28"/>
    <p:sldId id="273" r:id="rId29"/>
    <p:sldId id="274" r:id="rId3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8" Type="http://schemas.openxmlformats.org/officeDocument/2006/relationships/slideMaster" Target="slideMasters/slideMaster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H:\082_083\ward1\migration\tab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H:\082_083\ward1\migration\tabl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H:\082_083\ward1\migration\tabl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H:\082_083\ward1\migration\tabl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DC74-49AA-9C82-5FD39D1BB4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DC74-49AA-9C82-5FD39D1BB41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DC74-49AA-9C82-5FD39D1BB41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DC74-49AA-9C82-5FD39D1BB41C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'Marrital status'!$J$4:$J$5</c:f>
              <c:strCache>
                <c:ptCount val="2"/>
                <c:pt idx="0">
                  <c:v>Unmarried</c:v>
                </c:pt>
                <c:pt idx="1">
                  <c:v>Married</c:v>
                </c:pt>
              </c:strCache>
            </c:strRef>
          </c:cat>
          <c:val>
            <c:numRef>
              <c:f>'Marrital status'!$K$4:$K$5</c:f>
              <c:numCache>
                <c:formatCode>0.00</c:formatCode>
                <c:ptCount val="2"/>
                <c:pt idx="0">
                  <c:v>37.962962962962962</c:v>
                </c:pt>
                <c:pt idx="1">
                  <c:v>62.037037037037038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74-49AA-9C82-5FD39D1BB41C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34EF-43BE-9FF0-F26D5EB7AC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34EF-43BE-9FF0-F26D5EB7AC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34EF-43BE-9FF0-F26D5EB7AC0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4EF-43BE-9FF0-F26D5EB7AC0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4EF-43BE-9FF0-F26D5EB7AC0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4EF-43BE-9FF0-F26D5EB7AC0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'Place of Origin'!$E$3:$E$5</c:f>
              <c:strCache>
                <c:ptCount val="3"/>
                <c:pt idx="0">
                  <c:v>Same palika</c:v>
                </c:pt>
                <c:pt idx="1">
                  <c:v>Other palika of same district</c:v>
                </c:pt>
                <c:pt idx="2">
                  <c:v>Other district</c:v>
                </c:pt>
              </c:strCache>
            </c:strRef>
          </c:cat>
          <c:val>
            <c:numRef>
              <c:f>'Place of Origin'!$F$3:$F$5</c:f>
              <c:numCache>
                <c:formatCode>0.00</c:formatCode>
                <c:ptCount val="3"/>
                <c:pt idx="0">
                  <c:v>5.6179775280898872</c:v>
                </c:pt>
                <c:pt idx="1">
                  <c:v>21.348314606741571</c:v>
                </c:pt>
                <c:pt idx="2">
                  <c:v>73.033707865168537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EF-43BE-9FF0-F26D5EB7AC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Yes</c:v>
          </c:tx>
          <c:spPr>
            <a:pattFill prst="pct10">
              <a:fgClr>
                <a:sysClr val="windowText" lastClr="000000">
                  <a:lumMod val="65000"/>
                  <a:lumOff val="35000"/>
                </a:sys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'Changed Aspects'!$A$8:$A$11</c:f>
              <c:strCache>
                <c:ptCount val="4"/>
                <c:pt idx="0">
                  <c:v>Culture</c:v>
                </c:pt>
                <c:pt idx="1">
                  <c:v>Occupation</c:v>
                </c:pt>
                <c:pt idx="2">
                  <c:v>Food Habit</c:v>
                </c:pt>
                <c:pt idx="3">
                  <c:v>Better Education</c:v>
                </c:pt>
              </c:strCache>
            </c:strRef>
          </c:cat>
          <c:val>
            <c:numRef>
              <c:f>'Changed Aspects'!$B$8:$B$11</c:f>
              <c:numCache>
                <c:formatCode>0.0</c:formatCode>
                <c:ptCount val="4"/>
                <c:pt idx="0">
                  <c:v>16.853932584269664</c:v>
                </c:pt>
                <c:pt idx="1">
                  <c:v>13.48314606741573</c:v>
                </c:pt>
                <c:pt idx="2">
                  <c:v>8.9887640449438209</c:v>
                </c:pt>
                <c:pt idx="3">
                  <c:v>79.775280898876403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6-4209-87C5-4FA60B736605}"/>
            </c:ext>
          </c:extLst>
        </c:ser>
        <c:ser>
          <c:idx val="1"/>
          <c:order val="1"/>
          <c:tx>
            <c:v>No</c:v>
          </c:tx>
          <c:spPr>
            <a:noFill/>
            <a:ln w="127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'Changed Aspects'!$A$8:$A$11</c:f>
              <c:strCache>
                <c:ptCount val="4"/>
                <c:pt idx="0">
                  <c:v>Culture</c:v>
                </c:pt>
                <c:pt idx="1">
                  <c:v>Occupation</c:v>
                </c:pt>
                <c:pt idx="2">
                  <c:v>Food Habit</c:v>
                </c:pt>
                <c:pt idx="3">
                  <c:v>Better Education</c:v>
                </c:pt>
              </c:strCache>
            </c:strRef>
          </c:cat>
          <c:val>
            <c:numRef>
              <c:f>'Changed Aspects'!$C$8:$C$11</c:f>
              <c:numCache>
                <c:formatCode>0.0</c:formatCode>
                <c:ptCount val="4"/>
                <c:pt idx="0">
                  <c:v>83.146067415730343</c:v>
                </c:pt>
                <c:pt idx="1">
                  <c:v>86.516853932584269</c:v>
                </c:pt>
                <c:pt idx="2">
                  <c:v>91.011235955056179</c:v>
                </c:pt>
                <c:pt idx="3">
                  <c:v>20.224719101123593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6-4209-87C5-4FA60B7366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444287"/>
        <c:axId val="195729007"/>
      </c:barChart>
      <c:catAx>
        <c:axId val="1294442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non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cap="none" baseline="0"/>
                  <a:t>Changed Aspects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29007"/>
        <c:crosses val="autoZero"/>
        <c:auto val="1"/>
        <c:lblAlgn val="ctr"/>
        <c:lblOffset val="100"/>
        <c:noMultiLvlLbl val="0"/>
      </c:catAx>
      <c:valAx>
        <c:axId val="195729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non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cap="none" baseline="0"/>
                  <a:t>Percentage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44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12700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 w="127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'Problems facing in destination'!$E$2:$E$6</c:f>
              <c:strCache>
                <c:ptCount val="5"/>
                <c:pt idx="0">
                  <c:v>Inadequate Development Funding</c:v>
                </c:pt>
                <c:pt idx="1">
                  <c:v>Inadequate Drinking water supply</c:v>
                </c:pt>
                <c:pt idx="2">
                  <c:v>Lack of employment opportunity</c:v>
                </c:pt>
                <c:pt idx="3">
                  <c:v>Insufficient health facilities</c:v>
                </c:pt>
                <c:pt idx="4">
                  <c:v> Bad social environment</c:v>
                </c:pt>
              </c:strCache>
            </c:strRef>
          </c:cat>
          <c:val>
            <c:numRef>
              <c:f>'Problems facing in destination'!$F$2:$F$6</c:f>
              <c:numCache>
                <c:formatCode>0.0</c:formatCode>
                <c:ptCount val="5"/>
                <c:pt idx="0">
                  <c:v>39.325842696629216</c:v>
                </c:pt>
                <c:pt idx="1">
                  <c:v>7.8651685393258424</c:v>
                </c:pt>
                <c:pt idx="2">
                  <c:v>15.730337078651685</c:v>
                </c:pt>
                <c:pt idx="3">
                  <c:v>19.101123595505616</c:v>
                </c:pt>
                <c:pt idx="4">
                  <c:v>17.977528089887642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66-4A99-8BE3-CBB90256D2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02641824"/>
        <c:axId val="1439378192"/>
      </c:barChart>
      <c:catAx>
        <c:axId val="1602641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Problems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alpha val="95000"/>
              </a:schemeClr>
            </a:solidFill>
            <a:round/>
          </a:ln>
          <a:effectLst/>
        </c:spPr>
        <c:txPr>
          <a:bodyPr rot="-18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9378192"/>
        <c:crosses val="autoZero"/>
        <c:auto val="1"/>
        <c:lblAlgn val="ctr"/>
        <c:lblOffset val="100"/>
        <c:noMultiLvlLbl val="0"/>
      </c:catAx>
      <c:valAx>
        <c:axId val="1439378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Percentage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2641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E4BCD7C-4E6B-4D1D-9DCC-3BC59F4B4E2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D28E5D-BCBE-47DF-A25E-A5071922828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EA6D002-5A32-42A2-80B3-334679ECCE7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00DBC7-82F3-49EC-BA86-B1BC9FC8AAB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96E8BBA-21B4-4871-A735-C755D8681C3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A2FAE6B-08E1-473A-8099-C91064D40E2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C0395A3-E10E-4CCB-A821-809B5D74CF0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18A9FBC-9116-4B9D-B88D-48045DA3E04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AA4B0FF-CADF-4676-ADE4-CE7A47FEBD4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A187AA11-E5BB-4488-BAC0-DEA4E7303AD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E3525FE3-197F-46CE-9125-E226D6832D5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6523AF-018D-4175-81D4-DE6B8EF675B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DA4BCB-CA3D-45FC-8AE2-B70C2AA710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EBF5E9-16A0-4DB0-ACDE-B8F63F73714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D6EE41-119A-4D95-AC17-295D900D54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29173C-7DAF-4502-BA0B-2D0040939E9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5F6090-1FDD-471A-BE79-EBAD5FB1BB4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B84C23-1F44-4259-8374-FEF45DA757F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C5A773-427B-412E-8C03-4BA470DC877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E2F3BE-C7E5-49AA-9684-FF1BAF7042F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0B8931-6A85-46F0-8D16-EB463E47B20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50A5CB-6694-43E8-A23B-55AF74E9778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4"/>
          <p:cNvSpPr/>
          <p:nvPr/>
        </p:nvSpPr>
        <p:spPr>
          <a:xfrm>
            <a:off x="995423" y="1645920"/>
            <a:ext cx="10579261" cy="15066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111111"/>
                </a:solidFill>
                <a:latin typeface="Georgia"/>
              </a:rPr>
              <a:t>Causes and Consequences of In-Migration in </a:t>
            </a:r>
            <a:r>
              <a:rPr lang="en-US" sz="3200" b="1" strike="noStrike" spc="-1" dirty="0" err="1">
                <a:solidFill>
                  <a:srgbClr val="111111"/>
                </a:solidFill>
                <a:latin typeface="Georgia"/>
              </a:rPr>
              <a:t>Shankharapur</a:t>
            </a:r>
            <a:r>
              <a:rPr lang="en-US" sz="3200" b="1" strike="noStrike" spc="-1" dirty="0">
                <a:solidFill>
                  <a:srgbClr val="111111"/>
                </a:solidFill>
                <a:latin typeface="Georgia"/>
              </a:rPr>
              <a:t> </a:t>
            </a:r>
            <a:r>
              <a:rPr lang="en-US" sz="3200" b="1" spc="-1" dirty="0">
                <a:solidFill>
                  <a:srgbClr val="111111"/>
                </a:solidFill>
                <a:latin typeface="Georgia"/>
              </a:rPr>
              <a:t>Municipality</a:t>
            </a:r>
            <a:r>
              <a:rPr lang="en-US" sz="3200" b="1" strike="noStrike" spc="-1" dirty="0">
                <a:solidFill>
                  <a:srgbClr val="111111"/>
                </a:solidFill>
                <a:latin typeface="Georgia"/>
              </a:rPr>
              <a:t> of Kathmandu, Nepal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1" strike="noStrike" spc="-1" dirty="0">
                <a:solidFill>
                  <a:srgbClr val="555555"/>
                </a:solidFill>
                <a:latin typeface="Arial"/>
              </a:rPr>
              <a:t>A Thesis Defense Presentation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1097280" y="3931920"/>
            <a:ext cx="9996840" cy="1224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1097280" y="4206240"/>
            <a:ext cx="999684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111111"/>
                </a:solidFill>
                <a:latin typeface="Arial"/>
              </a:rPr>
              <a:t>Submitted By:  Kristal Suwal  (Exam Roll No: 2030013)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400" b="1" strike="noStrike" spc="-1" dirty="0">
                <a:solidFill>
                  <a:srgbClr val="111111"/>
                </a:solidFill>
                <a:latin typeface="Arial"/>
              </a:rPr>
              <a:t>Supervisor:  Mr. Tirtha Raj Timsina, Lecturer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400" b="1" strike="noStrike" spc="-1" dirty="0">
                <a:solidFill>
                  <a:srgbClr val="111111"/>
                </a:solidFill>
                <a:latin typeface="Arial"/>
              </a:rPr>
              <a:t>Institution:  Bhaktapur Multiple Campus, Tribhuvan University  |  October 2026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1. Introduction &amp; Background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1520" y="1637883"/>
            <a:ext cx="10728360" cy="467248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80975" indent="-180975" algn="just">
              <a:buFont typeface="Arial" panose="020B0604020202020204" pitchFamily="34" charset="0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Migration is a key driver of population change alongside fertility and mortality.</a:t>
            </a:r>
          </a:p>
          <a:p>
            <a:pPr marL="180975" indent="-180975"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Increasing shift of population from rural/hilly areas toward urban and sub-urban centers.</a:t>
            </a:r>
          </a:p>
          <a:p>
            <a:pPr marL="180975" indent="-180975"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Serves as a mechanism balancing population distribution with economic opportunities and social services.</a:t>
            </a:r>
          </a:p>
          <a:p>
            <a:pPr marL="180975" indent="-180975"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Post-2015 earthquake reconstruction accelerated population movement to sub-urban place like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Shankharapur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Focus Area: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Shankharapur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Ward 9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80975" indent="-180975"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Geographic </a:t>
            </a:r>
            <a:r>
              <a:rPr lang="en-US" spc="-1" dirty="0">
                <a:solidFill>
                  <a:srgbClr val="000000"/>
                </a:solidFill>
                <a:latin typeface="Arial"/>
              </a:rPr>
              <a:t>Location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Shankharapur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Municipality Ward No. 9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Sankhu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), located in eastern region of  Kathmandu Valley.</a:t>
            </a: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US" spc="-1" dirty="0">
                <a:solidFill>
                  <a:srgbClr val="000000"/>
                </a:solidFill>
                <a:latin typeface="Arial"/>
              </a:rPr>
              <a:t>Sub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-Urban Transition: Rapidly developing area experiencing a steady inflow of in-migrants.</a:t>
            </a:r>
          </a:p>
          <a:p>
            <a:pPr marL="180975" indent="-180975"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Research Focus: Investigating why people relocate here and examining the resulting socio-economic impacts.</a:t>
            </a: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• Study Scale: Complete enumeration covering 89 migrant households (345 individuals) in the 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2. Objectives of the Study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85800" y="2057400"/>
            <a:ext cx="10515600" cy="29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To examine the primary causes for in-migration into the study area.</a:t>
            </a: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To assess the existing socio-economic and demographic nature and characteristics of migrant households.</a:t>
            </a: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To explore the consequences of in-migration at the place of destination.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685800" y="1600200"/>
            <a:ext cx="10744200" cy="435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just"/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Geographical Scope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Confined specifically to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Shankharapur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Ward 9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Sankhu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); findings reflect localized sub-urban movement and cannot be broadly generalized across all municipal regions.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Time &amp; Resource Constraints: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Conducted within a fixed academic timeframe and resource budget, limiting longitudinal tracking and multi-ward institutional data collection.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Focus on Settled Households: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Focused on registered resident migrant households (89 households); short-term, floating, or seasonal laborers may not be fully captured.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Self-Reported Survey Data: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pPr algn="just"/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Relies on household head disclosures, which are subject to individual perception and potential hesitation to share sensitive income or financial details.</a:t>
            </a:r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  <a:p>
            <a:endParaRPr lang="en-US" sz="1800" b="0" strike="noStrike" spc="-1" dirty="0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77" name="TextBox 1"/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3. Limitations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/>
          <p:nvPr/>
        </p:nvSpPr>
        <p:spPr>
          <a:xfrm>
            <a:off x="914400" y="1951975"/>
            <a:ext cx="10515240" cy="65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Location: </a:t>
            </a:r>
            <a:r>
              <a:rPr lang="en-US" b="0" strike="noStrike" spc="-1" dirty="0" err="1">
                <a:solidFill>
                  <a:srgbClr val="111111"/>
                </a:solidFill>
                <a:latin typeface="Arial"/>
              </a:rPr>
              <a:t>Shankharapur</a:t>
            </a:r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 Municipality Ward No. 9 (</a:t>
            </a:r>
            <a:r>
              <a:rPr lang="en-US" b="0" strike="noStrike" spc="-1" dirty="0" err="1">
                <a:solidFill>
                  <a:srgbClr val="111111"/>
                </a:solidFill>
                <a:latin typeface="Arial"/>
              </a:rPr>
              <a:t>Sankhu</a:t>
            </a:r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), Kathmandu.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Selection: Purposive selection based on rapid sub-urban growth and high migrant inflow.</a:t>
            </a:r>
          </a:p>
          <a:p>
            <a:pPr algn="just"/>
            <a:endParaRPr lang="en-US" spc="-1" dirty="0">
              <a:solidFill>
                <a:srgbClr val="111111"/>
              </a:solidFill>
              <a:latin typeface="Arial"/>
            </a:endParaRPr>
          </a:p>
          <a:p>
            <a:pPr algn="just"/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4. Research Methodology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7359" y="1590735"/>
            <a:ext cx="3503094" cy="38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Area &amp; Selection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62359" y="2591399"/>
            <a:ext cx="3789543" cy="38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&amp; Population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2919055"/>
            <a:ext cx="10515240" cy="8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Complete Enumeration: Total of 89 migrant households surveyed.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Total </a:t>
            </a:r>
            <a:r>
              <a:rPr lang="en-US" spc="-1" dirty="0">
                <a:solidFill>
                  <a:srgbClr val="111111"/>
                </a:solidFill>
                <a:latin typeface="Arial"/>
              </a:rPr>
              <a:t>Migrants</a:t>
            </a:r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: 345 individuals (181 males, 164 females).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Sample Coverage: 100% census of identified migrant households</a:t>
            </a:r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04880" y="3856639"/>
            <a:ext cx="4259006" cy="38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399" y="4182631"/>
            <a:ext cx="10515239" cy="80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Primary Data: Structured household questionnaire survey schedule.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Key Indicators: Socio-economic profile, causes, income pre/post, facilities.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Secondary Data: Ward records, Municipal reports, Census 2021.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50600" y="5110169"/>
            <a:ext cx="3881690" cy="38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b="1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880" y="5449301"/>
            <a:ext cx="10527000" cy="91439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Software Tools: Microsoft Excel/SPSS for processing.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Analytical Methods: Tabulation, percentage distributions, classifications.</a:t>
            </a:r>
          </a:p>
          <a:p>
            <a:pPr algn="just"/>
            <a:r>
              <a:rPr lang="en-US" b="0" strike="noStrike" spc="-1" dirty="0">
                <a:solidFill>
                  <a:srgbClr val="111111"/>
                </a:solidFill>
                <a:latin typeface="Arial"/>
              </a:rPr>
              <a:t>• Comparative Approach: Pre-migration vs. Post-migration metrics.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5. Data Analysis and Presentation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220880" y="3472128"/>
            <a:ext cx="4024861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Ethnic Composition of Households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3" name="Table 9"/>
          <p:cNvGraphicFramePr/>
          <p:nvPr>
            <p:extLst>
              <p:ext uri="{D42A27DB-BD31-4B8C-83A1-F6EECF244321}">
                <p14:modId xmlns:p14="http://schemas.microsoft.com/office/powerpoint/2010/main" val="1116235724"/>
              </p:ext>
            </p:extLst>
          </p:nvPr>
        </p:nvGraphicFramePr>
        <p:xfrm>
          <a:off x="1186740" y="3932636"/>
          <a:ext cx="4482720" cy="2239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Ethnicity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Households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Chhetri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Brahmin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Janajati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1186740" y="1430280"/>
            <a:ext cx="7361640" cy="175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 strike="noStrike" spc="-1">
                <a:latin typeface="Arial" panose="020B0604020202020204" pitchFamily="34" charset="0"/>
                <a:ea typeface="Noto Sans CJK SC"/>
                <a:cs typeface="Arial" panose="020B0604020202020204" pitchFamily="34" charset="0"/>
              </a:defRPr>
            </a:lvl1pPr>
          </a:lstStyle>
          <a:p>
            <a:r>
              <a:rPr lang="en-US" b="0" dirty="0"/>
              <a:t>Total migrants: 345 people, 89 households</a:t>
            </a:r>
          </a:p>
          <a:p>
            <a:r>
              <a:rPr lang="en-US" b="0" dirty="0"/>
              <a:t>Sex ratio: 181 males and 164 females</a:t>
            </a:r>
          </a:p>
          <a:p>
            <a:r>
              <a:rPr lang="en-US" b="0" dirty="0"/>
              <a:t>Literacy rate: male 93.7%, female 66.9%</a:t>
            </a:r>
          </a:p>
          <a:p>
            <a:r>
              <a:rPr lang="en-US" b="0" dirty="0"/>
              <a:t>Family size: 3.88 persons per household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CB41-6CDA-4D0D-0816-B35325DF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">
            <a:extLst>
              <a:ext uri="{FF2B5EF4-FFF2-40B4-BE49-F238E27FC236}">
                <a16:creationId xmlns:a16="http://schemas.microsoft.com/office/drawing/2014/main" id="{06799B14-DB83-18CC-2D90-6B2F446F1A51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5. Data Analysis and Presentation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7B0D0C1E-56CC-48B2-8304-7BA0188C90FB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8">
            <a:extLst>
              <a:ext uri="{FF2B5EF4-FFF2-40B4-BE49-F238E27FC236}">
                <a16:creationId xmlns:a16="http://schemas.microsoft.com/office/drawing/2014/main" id="{092E9296-D041-D75E-C727-D9A5460C8051}"/>
              </a:ext>
            </a:extLst>
          </p:cNvPr>
          <p:cNvSpPr/>
          <p:nvPr/>
        </p:nvSpPr>
        <p:spPr>
          <a:xfrm>
            <a:off x="869183" y="1914631"/>
            <a:ext cx="506232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 of Land Holdings by migrant household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3" name="Table 9">
            <a:extLst>
              <a:ext uri="{FF2B5EF4-FFF2-40B4-BE49-F238E27FC236}">
                <a16:creationId xmlns:a16="http://schemas.microsoft.com/office/drawing/2014/main" id="{0BC5E51D-1717-5E7B-4436-E42B96CA7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153033"/>
              </p:ext>
            </p:extLst>
          </p:nvPr>
        </p:nvGraphicFramePr>
        <p:xfrm>
          <a:off x="945581" y="2445481"/>
          <a:ext cx="6269863" cy="2707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9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 of land holdings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Households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</a:t>
                      </a:r>
                      <a:endParaRPr lang="en-US" sz="18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Ropani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72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6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20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562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75FB-7F49-9D52-716E-27BA3BB0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">
            <a:extLst>
              <a:ext uri="{FF2B5EF4-FFF2-40B4-BE49-F238E27FC236}">
                <a16:creationId xmlns:a16="http://schemas.microsoft.com/office/drawing/2014/main" id="{DA3628A7-95C4-32CE-0D57-040BE62ADF09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5. Data Analysis and Presentation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A664788C-4B6A-B060-0028-07E558DFE5C9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0">
            <a:extLst>
              <a:ext uri="{FF2B5EF4-FFF2-40B4-BE49-F238E27FC236}">
                <a16:creationId xmlns:a16="http://schemas.microsoft.com/office/drawing/2014/main" id="{9BFEA63E-5D67-8D0F-58B5-59E133F2430C}"/>
              </a:ext>
            </a:extLst>
          </p:cNvPr>
          <p:cNvSpPr/>
          <p:nvPr/>
        </p:nvSpPr>
        <p:spPr>
          <a:xfrm>
            <a:off x="2795949" y="2050962"/>
            <a:ext cx="401203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Structure &amp; Dependency Ratio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5" name="Table 11">
            <a:extLst>
              <a:ext uri="{FF2B5EF4-FFF2-40B4-BE49-F238E27FC236}">
                <a16:creationId xmlns:a16="http://schemas.microsoft.com/office/drawing/2014/main" id="{F76C37E6-689B-9DF2-FDB8-74E25CB7D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423744"/>
              </p:ext>
            </p:extLst>
          </p:nvPr>
        </p:nvGraphicFramePr>
        <p:xfrm>
          <a:off x="2019711" y="2683440"/>
          <a:ext cx="5805218" cy="220860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1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Dependency Metric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Ratio Value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Child Dependency Ratio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16.67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0-14 Years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008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 Age Dependency Ratio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8.33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65+ Years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Age Dependency Ratio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25.00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burden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Economically Active (15-64)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74.8%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workforce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39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51F4D-C37D-D73F-E8DF-390553B1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2">
            <a:extLst>
              <a:ext uri="{FF2B5EF4-FFF2-40B4-BE49-F238E27FC236}">
                <a16:creationId xmlns:a16="http://schemas.microsoft.com/office/drawing/2014/main" id="{6564B842-3950-D8FF-3F39-1AA7E2CC7C11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5. Data Analysis and Presentation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A994B9B5-3C8B-DAAA-D218-10604CBAEA10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2308CAB-FB1E-17D9-D0B7-50D32391C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0329666"/>
              </p:ext>
            </p:extLst>
          </p:nvPr>
        </p:nvGraphicFramePr>
        <p:xfrm>
          <a:off x="3352257" y="2368897"/>
          <a:ext cx="4957729" cy="3339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10">
            <a:extLst>
              <a:ext uri="{FF2B5EF4-FFF2-40B4-BE49-F238E27FC236}">
                <a16:creationId xmlns:a16="http://schemas.microsoft.com/office/drawing/2014/main" id="{AB9106E8-C7C5-B772-8AB8-3AC09C2A3040}"/>
              </a:ext>
            </a:extLst>
          </p:cNvPr>
          <p:cNvSpPr/>
          <p:nvPr/>
        </p:nvSpPr>
        <p:spPr>
          <a:xfrm>
            <a:off x="3490969" y="1916310"/>
            <a:ext cx="480004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Marital Status of Migrant population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24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1F28-7651-7355-600E-E2D507E7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">
            <a:extLst>
              <a:ext uri="{FF2B5EF4-FFF2-40B4-BE49-F238E27FC236}">
                <a16:creationId xmlns:a16="http://schemas.microsoft.com/office/drawing/2014/main" id="{79D6B287-CB5D-4759-4B68-493288C3816E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6. Causes of In-Migration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">
            <a:extLst>
              <a:ext uri="{FF2B5EF4-FFF2-40B4-BE49-F238E27FC236}">
                <a16:creationId xmlns:a16="http://schemas.microsoft.com/office/drawing/2014/main" id="{656F3524-3566-4405-828D-E9D33485D3A5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0C44F-4748-18FA-6322-DE7BB4057CF8}"/>
              </a:ext>
            </a:extLst>
          </p:cNvPr>
          <p:cNvSpPr txBox="1"/>
          <p:nvPr/>
        </p:nvSpPr>
        <p:spPr>
          <a:xfrm>
            <a:off x="3723375" y="1945297"/>
            <a:ext cx="4459238" cy="40099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sz="1800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of Origin of migrants households</a:t>
            </a:r>
            <a:endParaRPr lang="en-US" sz="1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BDB52C1-602E-EA9B-7D5E-6631FA2D25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39686"/>
              </p:ext>
            </p:extLst>
          </p:nvPr>
        </p:nvGraphicFramePr>
        <p:xfrm>
          <a:off x="3723374" y="2610890"/>
          <a:ext cx="5199561" cy="3107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7780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6. Causes of In-Migration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167839" y="1565319"/>
            <a:ext cx="4459238" cy="278742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sz="1800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Reasons for Leaving Origin</a:t>
            </a:r>
            <a:endParaRPr lang="en-US" sz="1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Limited Infrastructure: 34.83%</a:t>
            </a: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Limited Job Opportunities: 26.97%</a:t>
            </a: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Limited Market Access: 20.22%</a:t>
            </a: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Limited Arable Land: 7.87%</a:t>
            </a: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Government Job Posting: 5.62%</a:t>
            </a: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Victim of Conflict: 4.49%</a:t>
            </a:r>
          </a:p>
          <a:p>
            <a:pPr algn="just">
              <a:lnSpc>
                <a:spcPct val="150000"/>
              </a:lnSpc>
            </a:pPr>
            <a:endParaRPr lang="en-US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202563" y="4549516"/>
            <a:ext cx="9865251" cy="20640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 &amp; Decision-Maker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Making Responsibility: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Near Relatives: 28.09% (25 HHs) — Key decision influencer.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Spouse / Children: 23.60% (21 HHs) — Family-mediated decisions.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Individual Self: 16.85% (15 HHs) | Friends: 16.85% (15 HHs).</a:t>
            </a:r>
          </a:p>
          <a:p>
            <a:pPr algn="just"/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Arial"/>
              </a:rPr>
              <a:t>OUTCOMES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7. Consequences &amp; Comparative Analysis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731520" y="1679400"/>
            <a:ext cx="571955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Income Shift (Previous vs </a:t>
            </a:r>
            <a:r>
              <a:rPr lang="en-US" b="1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Migration</a:t>
            </a: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5" name="Table 5"/>
          <p:cNvGraphicFramePr/>
          <p:nvPr>
            <p:extLst>
              <p:ext uri="{D42A27DB-BD31-4B8C-83A1-F6EECF244321}">
                <p14:modId xmlns:p14="http://schemas.microsoft.com/office/powerpoint/2010/main" val="2011569814"/>
              </p:ext>
            </p:extLst>
          </p:nvPr>
        </p:nvGraphicFramePr>
        <p:xfrm>
          <a:off x="731520" y="2047278"/>
          <a:ext cx="7618661" cy="1897288"/>
        </p:xfrm>
        <a:graphic>
          <a:graphicData uri="http://schemas.openxmlformats.org/drawingml/2006/table">
            <a:tbl>
              <a:tblPr/>
              <a:tblGrid>
                <a:gridCol w="299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2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Income Bracket (Rs.)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 (%)</a:t>
                      </a:r>
                      <a:endParaRPr lang="en-US" sz="1600" b="0" strike="noStrike" spc="-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 (%)</a:t>
                      </a:r>
                      <a:endParaRPr lang="en-US" sz="1600" b="0" strike="noStrike" spc="-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Below 20,000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12.4%  (↓ Decreased)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20,000 - 39,999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93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40,000 and above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22.5%  (↑ Doubled)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Households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100.0% (89 HHs)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D2355FE9-6172-07BD-C07C-378455A466AE}"/>
              </a:ext>
            </a:extLst>
          </p:cNvPr>
          <p:cNvSpPr/>
          <p:nvPr/>
        </p:nvSpPr>
        <p:spPr>
          <a:xfrm>
            <a:off x="753292" y="4203208"/>
            <a:ext cx="469042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Satisfaction at current place of residence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E9FFF6-E2EF-5E01-FD56-75526ADA1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42586"/>
              </p:ext>
            </p:extLst>
          </p:nvPr>
        </p:nvGraphicFramePr>
        <p:xfrm>
          <a:off x="753292" y="4596486"/>
          <a:ext cx="7618661" cy="1897288"/>
        </p:xfrm>
        <a:graphic>
          <a:graphicData uri="http://schemas.openxmlformats.org/drawingml/2006/table">
            <a:tbl>
              <a:tblPr/>
              <a:tblGrid>
                <a:gridCol w="299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2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Satisfaction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Households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(%)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93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as before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02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Households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5563-8319-E6FD-B2C5-F3B11AC1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>
            <a:extLst>
              <a:ext uri="{FF2B5EF4-FFF2-40B4-BE49-F238E27FC236}">
                <a16:creationId xmlns:a16="http://schemas.microsoft.com/office/drawing/2014/main" id="{A655D5CA-DAAF-C459-64C6-1808BA9080C4}"/>
              </a:ext>
            </a:extLst>
          </p:cNvPr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Arial"/>
              </a:rPr>
              <a:t>OUTCOMES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">
            <a:extLst>
              <a:ext uri="{FF2B5EF4-FFF2-40B4-BE49-F238E27FC236}">
                <a16:creationId xmlns:a16="http://schemas.microsoft.com/office/drawing/2014/main" id="{9A6433EB-E612-22F2-3DCE-00CF05ECA3C8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7. Consequences &amp; Comparative Analysis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F17DFE74-99AC-9DDA-01F0-B77DDD4F9CBE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4">
            <a:extLst>
              <a:ext uri="{FF2B5EF4-FFF2-40B4-BE49-F238E27FC236}">
                <a16:creationId xmlns:a16="http://schemas.microsoft.com/office/drawing/2014/main" id="{F103594D-915E-4920-9190-60B338CAD5AB}"/>
              </a:ext>
            </a:extLst>
          </p:cNvPr>
          <p:cNvSpPr/>
          <p:nvPr/>
        </p:nvSpPr>
        <p:spPr>
          <a:xfrm>
            <a:off x="2118186" y="1679400"/>
            <a:ext cx="771805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b="1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Migrant Households by Changes in Selected Aspects)</a:t>
            </a:r>
            <a:endParaRPr lang="en-US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8DB64DD-0F49-973E-42DB-EEA809D480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9347554"/>
              </p:ext>
            </p:extLst>
          </p:nvPr>
        </p:nvGraphicFramePr>
        <p:xfrm>
          <a:off x="2160395" y="2095830"/>
          <a:ext cx="7707086" cy="3945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722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D805-AF4E-1EAB-63BD-C20BAF8D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>
            <a:extLst>
              <a:ext uri="{FF2B5EF4-FFF2-40B4-BE49-F238E27FC236}">
                <a16:creationId xmlns:a16="http://schemas.microsoft.com/office/drawing/2014/main" id="{4963A2E5-4ADC-430D-EC89-01474330B017}"/>
              </a:ext>
            </a:extLst>
          </p:cNvPr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Arial"/>
              </a:rPr>
              <a:t>OUTCOMES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">
            <a:extLst>
              <a:ext uri="{FF2B5EF4-FFF2-40B4-BE49-F238E27FC236}">
                <a16:creationId xmlns:a16="http://schemas.microsoft.com/office/drawing/2014/main" id="{1631B284-D948-EC3D-B044-FB6D2135B2DC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7. Consequences &amp; Comparative Analysis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B05F2B86-1084-4741-E967-FFAF7993C369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C7D8F99-67AC-F48F-D715-57AF47353C14}"/>
              </a:ext>
            </a:extLst>
          </p:cNvPr>
          <p:cNvSpPr txBox="1"/>
          <p:nvPr/>
        </p:nvSpPr>
        <p:spPr>
          <a:xfrm>
            <a:off x="711423" y="1797800"/>
            <a:ext cx="10492489" cy="440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1" strike="noStrike" spc="-1" dirty="0">
                <a:latin typeface="Arial" panose="020B0604020202020204" pitchFamily="34" charset="0"/>
                <a:cs typeface="Arial" panose="020B0604020202020204" pitchFamily="34" charset="0"/>
              </a:rPr>
              <a:t>Challenges &amp; Problems at Destination</a:t>
            </a:r>
          </a:p>
          <a:p>
            <a:endParaRPr lang="en-US" sz="1800" b="0" strike="noStrike" spc="-1" dirty="0">
              <a:latin typeface="Arial"/>
            </a:endParaRPr>
          </a:p>
          <a:p>
            <a:r>
              <a:rPr lang="en-US" sz="1600" b="1" strike="noStrike" spc="-1" dirty="0">
                <a:latin typeface="Arial"/>
              </a:rPr>
              <a:t>• Inadequate Development Funding: 39.3%</a:t>
            </a:r>
            <a:endParaRPr lang="en-US" sz="1600" b="0" strike="noStrike" spc="-1" dirty="0">
              <a:latin typeface="Arial"/>
            </a:endParaRPr>
          </a:p>
          <a:p>
            <a:r>
              <a:rPr lang="en-US" sz="1600" b="0" strike="noStrike" spc="-1" dirty="0">
                <a:latin typeface="Arial"/>
              </a:rPr>
              <a:t>   (35 HHs (Major infrastructure gap))</a:t>
            </a:r>
          </a:p>
          <a:p>
            <a:endParaRPr lang="en-US" sz="1600" b="0" strike="noStrike" spc="-1" dirty="0">
              <a:latin typeface="Arial"/>
            </a:endParaRPr>
          </a:p>
          <a:p>
            <a:r>
              <a:rPr lang="en-US" sz="1600" b="1" strike="noStrike" spc="-1" dirty="0">
                <a:latin typeface="Arial"/>
              </a:rPr>
              <a:t>• Insufficient Health Facilities: 19.1%</a:t>
            </a:r>
            <a:endParaRPr lang="en-US" sz="1600" b="0" strike="noStrike" spc="-1" dirty="0">
              <a:latin typeface="Arial"/>
            </a:endParaRPr>
          </a:p>
          <a:p>
            <a:r>
              <a:rPr lang="en-US" sz="1600" b="0" strike="noStrike" spc="-1" dirty="0">
                <a:latin typeface="Arial"/>
              </a:rPr>
              <a:t>   (17 HHs)</a:t>
            </a:r>
          </a:p>
          <a:p>
            <a:endParaRPr lang="en-US" sz="1600" b="0" strike="noStrike" spc="-1" dirty="0">
              <a:latin typeface="Arial"/>
            </a:endParaRPr>
          </a:p>
          <a:p>
            <a:r>
              <a:rPr lang="en-US" sz="1600" b="1" strike="noStrike" spc="-1" dirty="0">
                <a:latin typeface="Arial"/>
              </a:rPr>
              <a:t>• Bad Social Environment: 18.0%</a:t>
            </a:r>
            <a:endParaRPr lang="en-US" sz="1600" b="0" strike="noStrike" spc="-1" dirty="0">
              <a:latin typeface="Arial"/>
            </a:endParaRPr>
          </a:p>
          <a:p>
            <a:r>
              <a:rPr lang="en-US" sz="1600" b="0" strike="noStrike" spc="-1" dirty="0">
                <a:latin typeface="Arial"/>
              </a:rPr>
              <a:t>   (16 HHs)</a:t>
            </a:r>
          </a:p>
          <a:p>
            <a:endParaRPr lang="en-US" sz="1600" b="0" strike="noStrike" spc="-1" dirty="0">
              <a:latin typeface="Arial"/>
            </a:endParaRPr>
          </a:p>
          <a:p>
            <a:r>
              <a:rPr lang="en-US" sz="1600" b="1" strike="noStrike" spc="-1" dirty="0">
                <a:latin typeface="Arial"/>
              </a:rPr>
              <a:t>• Lack of Employment Opportunities: 15.7%</a:t>
            </a:r>
            <a:endParaRPr lang="en-US" sz="1600" b="0" strike="noStrike" spc="-1" dirty="0">
              <a:latin typeface="Arial"/>
            </a:endParaRPr>
          </a:p>
          <a:p>
            <a:r>
              <a:rPr lang="en-US" sz="1600" b="0" strike="noStrike" spc="-1" dirty="0">
                <a:latin typeface="Arial"/>
              </a:rPr>
              <a:t>   (14 HHs)</a:t>
            </a:r>
          </a:p>
          <a:p>
            <a:endParaRPr lang="en-US" sz="1600" b="0" strike="noStrike" spc="-1" dirty="0">
              <a:latin typeface="Arial"/>
            </a:endParaRPr>
          </a:p>
          <a:p>
            <a:r>
              <a:rPr lang="en-US" sz="1600" b="1" strike="noStrike" spc="-1" dirty="0">
                <a:latin typeface="Arial"/>
              </a:rPr>
              <a:t>• Inadequate Drinking Water Supply: 7.9%</a:t>
            </a:r>
            <a:endParaRPr lang="en-US" sz="1600" b="0" strike="noStrike" spc="-1" dirty="0">
              <a:latin typeface="Arial"/>
            </a:endParaRPr>
          </a:p>
          <a:p>
            <a:r>
              <a:rPr lang="en-US" sz="1600" b="0" strike="noStrike" spc="-1" dirty="0">
                <a:latin typeface="Arial"/>
              </a:rPr>
              <a:t>   (7 HHs)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9D6CBC2-B960-6954-A6BB-87A1C375E7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621084"/>
              </p:ext>
            </p:extLst>
          </p:nvPr>
        </p:nvGraphicFramePr>
        <p:xfrm>
          <a:off x="5375869" y="1797800"/>
          <a:ext cx="5828044" cy="440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1129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Arial"/>
              </a:rPr>
              <a:t>SUMMARY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9. Conclusion &amp; Recommendations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99040" y="1782960"/>
            <a:ext cx="10391400" cy="3292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Conclusions</a:t>
            </a:r>
            <a:endParaRPr lang="en-US" sz="18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indent="-361950"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In-migration in </a:t>
            </a:r>
            <a:r>
              <a:rPr lang="en-US" sz="1600" b="0" strike="noStrike" spc="-1" dirty="0" err="1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Shankharapur</a:t>
            </a:r>
            <a:r>
              <a:rPr lang="en-US" sz="1600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Ward 9 is primarily driven by economic and infrastructural push factors (lack of roads, jobs, and market access at origin).</a:t>
            </a:r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Migration is long-distance and family-mediated, with relatives playing a major role in destination choice.</a:t>
            </a:r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Migration outcomes are overall favorable: household incomes increased significantly, education access improved, and 88.8% report satisfaction.</a:t>
            </a:r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However, local infrastructure (development funding, health facilities) is struggling to keep pace with rapid inflow.</a:t>
            </a:r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4599-B95A-063E-8125-F7FB152A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>
            <a:extLst>
              <a:ext uri="{FF2B5EF4-FFF2-40B4-BE49-F238E27FC236}">
                <a16:creationId xmlns:a16="http://schemas.microsoft.com/office/drawing/2014/main" id="{6169D31C-4EA5-3B3A-CC4C-920CD8839AA8}"/>
              </a:ext>
            </a:extLst>
          </p:cNvPr>
          <p:cNvSpPr/>
          <p:nvPr/>
        </p:nvSpPr>
        <p:spPr>
          <a:xfrm>
            <a:off x="731520" y="365760"/>
            <a:ext cx="1069812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Arial"/>
              </a:rPr>
              <a:t>SUMMARY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">
            <a:extLst>
              <a:ext uri="{FF2B5EF4-FFF2-40B4-BE49-F238E27FC236}">
                <a16:creationId xmlns:a16="http://schemas.microsoft.com/office/drawing/2014/main" id="{630CD4DC-C333-C3CA-4C60-0D6323D80353}"/>
              </a:ext>
            </a:extLst>
          </p:cNvPr>
          <p:cNvSpPr/>
          <p:nvPr/>
        </p:nvSpPr>
        <p:spPr>
          <a:xfrm>
            <a:off x="731520" y="640080"/>
            <a:ext cx="1069812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11111"/>
                </a:solidFill>
                <a:latin typeface="Georgia"/>
              </a:rPr>
              <a:t>9. Conclusion &amp; Recommendations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A1400A03-7458-6E5A-4396-9112D55350FC}"/>
              </a:ext>
            </a:extLst>
          </p:cNvPr>
          <p:cNvSpPr/>
          <p:nvPr/>
        </p:nvSpPr>
        <p:spPr>
          <a:xfrm>
            <a:off x="731520" y="1371600"/>
            <a:ext cx="10728360" cy="1872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B422F21-AC7F-256B-2917-32BA3C1AF9DD}"/>
              </a:ext>
            </a:extLst>
          </p:cNvPr>
          <p:cNvSpPr txBox="1"/>
          <p:nvPr/>
        </p:nvSpPr>
        <p:spPr>
          <a:xfrm>
            <a:off x="869793" y="1781131"/>
            <a:ext cx="10391400" cy="48787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r>
              <a:rPr lang="en-US" sz="1800" b="1" strike="noStrike" spc="-1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pPr algn="just"/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• </a:t>
            </a:r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Strengthen Infrastructure Funding: </a:t>
            </a:r>
          </a:p>
          <a:p>
            <a:pPr marL="180975" indent="-180975" algn="just"/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 </a:t>
            </a:r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Allocate higher development budgets to Ward 9 to upgrade roads and basic utilities.</a:t>
            </a:r>
          </a:p>
          <a:p>
            <a:pPr marL="180975" indent="-180975" algn="just"/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• </a:t>
            </a:r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Expand Healthcare Facilities: </a:t>
            </a:r>
          </a:p>
          <a:p>
            <a:pPr algn="just"/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 </a:t>
            </a:r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Address the 19.1% health facility deficit by enhancing local primary health posts.</a:t>
            </a:r>
          </a:p>
          <a:p>
            <a:pPr algn="just"/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• </a:t>
            </a:r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Promote Local Job Creation: </a:t>
            </a:r>
            <a:endParaRPr lang="en-US" sz="1600" u="sng" spc="-1" dirty="0">
              <a:solidFill>
                <a:srgbClr val="111111"/>
              </a:solidFill>
              <a:latin typeface="Arial"/>
            </a:endParaRP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Develop local enterprise and vocational training to create municipal employment opportunities.</a:t>
            </a:r>
          </a:p>
          <a:p>
            <a:pPr marL="180975" indent="-180975" algn="just"/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• </a:t>
            </a:r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Targeted Female Literacy: </a:t>
            </a: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Conduct adult education programs to address the gender literacy gap (Female 66.9% vs Male 93.7%).</a:t>
            </a:r>
          </a:p>
          <a:p>
            <a:pPr marL="180975" indent="-180975" algn="just"/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• </a:t>
            </a:r>
            <a:r>
              <a:rPr lang="en-US" sz="1600" b="0" u="sng" strike="noStrike" spc="-1" dirty="0">
                <a:solidFill>
                  <a:srgbClr val="111111"/>
                </a:solidFill>
                <a:latin typeface="Arial"/>
              </a:rPr>
              <a:t>Municipal Administrative Recordkeeping: </a:t>
            </a:r>
          </a:p>
          <a:p>
            <a:pPr marL="180975" indent="-180975" algn="just"/>
            <a:r>
              <a:rPr lang="en-US" sz="1600" b="0" strike="noStrike" spc="-1" dirty="0">
                <a:solidFill>
                  <a:srgbClr val="111111"/>
                </a:solidFill>
                <a:latin typeface="Arial"/>
              </a:rPr>
              <a:t>Formally clarify and record land-ownership criteria required for migrant status certification.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583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56B4F5-EA6F-F64A-5DFE-5A4379BF7992}"/>
              </a:ext>
            </a:extLst>
          </p:cNvPr>
          <p:cNvSpPr txBox="1"/>
          <p:nvPr/>
        </p:nvSpPr>
        <p:spPr>
          <a:xfrm>
            <a:off x="900300" y="2527161"/>
            <a:ext cx="10391400" cy="18237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7C890-0F7D-3BC4-C092-D68B22C4A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580" y="0"/>
            <a:ext cx="385930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023756-23D3-C1CB-3BED-7327D32712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115" y="0"/>
            <a:ext cx="385930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19A5E-CFF8-22A8-D808-A10BA859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03F445-F6A8-963B-D680-B7F2649BEE13}"/>
              </a:ext>
            </a:extLst>
          </p:cNvPr>
          <p:cNvSpPr txBox="1"/>
          <p:nvPr/>
        </p:nvSpPr>
        <p:spPr>
          <a:xfrm>
            <a:off x="1020880" y="2667837"/>
            <a:ext cx="10391400" cy="18237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A356F-144A-1598-63DB-83DE71C4A9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331" y="0"/>
            <a:ext cx="5533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89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4CAE-77E5-0C4A-8E38-42B7B0BF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F758E7-CB95-21DD-D99C-5F5DC77FBEDF}"/>
              </a:ext>
            </a:extLst>
          </p:cNvPr>
          <p:cNvSpPr txBox="1"/>
          <p:nvPr/>
        </p:nvSpPr>
        <p:spPr>
          <a:xfrm>
            <a:off x="900300" y="2527161"/>
            <a:ext cx="10391400" cy="18237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3600" b="1" strike="noStrike" spc="-1" dirty="0">
                <a:solidFill>
                  <a:srgbClr val="111111"/>
                </a:solidFill>
                <a:latin typeface="Georgia"/>
              </a:rPr>
              <a:t>Thank you!</a:t>
            </a:r>
            <a:endParaRPr lang="en-US" sz="16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58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1183</Words>
  <Application>Microsoft Office PowerPoint</Application>
  <PresentationFormat>Widescreen</PresentationFormat>
  <Paragraphs>213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19</vt:i4>
      </vt:variant>
    </vt:vector>
  </HeadingPairs>
  <TitlesOfParts>
    <vt:vector size="36" baseType="lpstr">
      <vt:lpstr>Arial</vt:lpstr>
      <vt:lpstr>Calibri</vt:lpstr>
      <vt:lpstr>Georgia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rabina baga</cp:lastModifiedBy>
  <cp:revision>46</cp:revision>
  <cp:lastPrinted>2026-10-08T21:33:23Z</cp:lastPrinted>
  <dcterms:created xsi:type="dcterms:W3CDTF">2013-01-27T09:14:16Z</dcterms:created>
  <dcterms:modified xsi:type="dcterms:W3CDTF">2026-10-09T01:29:14Z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